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70" r:id="rId4"/>
    <p:sldId id="263" r:id="rId5"/>
    <p:sldId id="287" r:id="rId6"/>
    <p:sldId id="271" r:id="rId7"/>
    <p:sldId id="282" r:id="rId8"/>
    <p:sldId id="272" r:id="rId9"/>
    <p:sldId id="290" r:id="rId10"/>
    <p:sldId id="293" r:id="rId11"/>
    <p:sldId id="292" r:id="rId12"/>
    <p:sldId id="289" r:id="rId13"/>
    <p:sldId id="295" r:id="rId14"/>
    <p:sldId id="294" r:id="rId15"/>
    <p:sldId id="274" r:id="rId16"/>
    <p:sldId id="305" r:id="rId17"/>
    <p:sldId id="306" r:id="rId18"/>
    <p:sldId id="296" r:id="rId19"/>
    <p:sldId id="297" r:id="rId20"/>
    <p:sldId id="301" r:id="rId21"/>
    <p:sldId id="283" r:id="rId22"/>
    <p:sldId id="275" r:id="rId23"/>
    <p:sldId id="300" r:id="rId24"/>
    <p:sldId id="273" r:id="rId25"/>
    <p:sldId id="258" r:id="rId26"/>
    <p:sldId id="302" r:id="rId27"/>
    <p:sldId id="304" r:id="rId28"/>
    <p:sldId id="28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87" dt="2026-10-11T15:13:14.765"/>
    <p1510:client id="{174E7EBF-CA63-423A-8E75-CA392E24683D}" v="1" dt="2026-10-11T16:47:17.187"/>
    <p1510:client id="{5237D518-B31B-C12B-AD32-F7217F6E8303}" v="787" dt="2026-10-11T14:39:46.363"/>
    <p1510:client id="{EDFCA465-1047-E06D-A528-28BF32D5592E}" v="556" dt="2026-10-11T16:43:33.9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10"/>
          <p:cNvSpPr>
            <a:spLocks noGrp="1" noRot="1" noMove="1" noResize="1" noEditPoints="1" noAdjustHandles="1" noChangeArrowheads="1" noChangeShapeType="1"/>
          </p:cNvSpPr>
          <p:nvPr/>
        </p:nvSpPr>
        <p:spPr>
          <a:xfrm>
            <a:off x="0" y="3239311"/>
            <a:ext cx="12192000" cy="3618689"/>
          </a:xfrm>
          <a:prstGeom prst="rect">
            <a:avLst/>
          </a:prstGeom>
          <a:gradFill flip="none" rotWithShape="1">
            <a:gsLst>
              <a:gs pos="0">
                <a:schemeClr val="tx1">
                  <a:alpha val="0"/>
                  <a:lumMod val="100000"/>
                </a:schemeClr>
              </a:gs>
              <a:gs pos="100000">
                <a:schemeClr val="tx1">
                  <a:alpha val="5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a:spLocks noGrp="1" noRot="1" noMove="1" noResize="1" noEditPoints="1" noAdjustHandles="1" noChangeArrowheads="1" noChangeShapeType="1"/>
          </p:cNvSpPr>
          <p:nvPr/>
        </p:nvSpPr>
        <p:spPr>
          <a:xfrm>
            <a:off x="0" y="-1"/>
            <a:ext cx="12192000" cy="3429001"/>
          </a:xfrm>
          <a:prstGeom prst="rect">
            <a:avLst/>
          </a:prstGeom>
          <a:gradFill flip="none" rotWithShape="1">
            <a:gsLst>
              <a:gs pos="0">
                <a:schemeClr val="tx1">
                  <a:alpha val="0"/>
                  <a:lumMod val="100000"/>
                </a:schemeClr>
              </a:gs>
              <a:gs pos="100000">
                <a:schemeClr val="tx1">
                  <a:alpha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p>
        </p:txBody>
      </p:sp>
      <p:sp>
        <p:nvSpPr>
          <p:cNvPr id="15" name="TextBox 14"/>
          <p:cNvSpPr txBox="1"/>
          <p:nvPr/>
        </p:nvSpPr>
        <p:spPr>
          <a:xfrm>
            <a:off x="7239095" y="7852873"/>
            <a:ext cx="2694562" cy="954107"/>
          </a:xfrm>
          <a:prstGeom prst="rect">
            <a:avLst/>
          </a:prstGeom>
          <a:noFill/>
        </p:spPr>
        <p:txBody>
          <a:bodyPr wrap="square" rtlCol="0">
            <a:spAutoFit/>
          </a:bodyPr>
          <a:lstStyle/>
          <a:p>
            <a:r>
              <a:rPr lang="en-US" sz="1600">
                <a:solidFill>
                  <a:schemeClr val="bg1"/>
                </a:solidFill>
              </a:rPr>
              <a:t>Under the supervision of:</a:t>
            </a:r>
          </a:p>
          <a:p>
            <a:r>
              <a:rPr lang="en-US" sz="2000" b="1">
                <a:solidFill>
                  <a:schemeClr val="bg1"/>
                </a:solidFill>
              </a:rPr>
              <a:t>Dr. G. Sudhakar</a:t>
            </a:r>
          </a:p>
          <a:p>
            <a:r>
              <a:rPr lang="en-US" sz="1600">
                <a:solidFill>
                  <a:schemeClr val="bg1"/>
                </a:solidFill>
              </a:rPr>
              <a:t>Subject:</a:t>
            </a:r>
            <a:r>
              <a:rPr lang="en-US">
                <a:solidFill>
                  <a:schemeClr val="bg1"/>
                </a:solidFill>
              </a:rPr>
              <a:t> </a:t>
            </a:r>
            <a:r>
              <a:rPr lang="en-US" b="1">
                <a:solidFill>
                  <a:schemeClr val="bg1"/>
                </a:solidFill>
              </a:rPr>
              <a:t>DTIE</a:t>
            </a:r>
          </a:p>
        </p:txBody>
      </p:sp>
      <p:sp>
        <p:nvSpPr>
          <p:cNvPr id="19" name="TextBox 18"/>
          <p:cNvSpPr txBox="1"/>
          <p:nvPr/>
        </p:nvSpPr>
        <p:spPr>
          <a:xfrm>
            <a:off x="3047189" y="3802080"/>
            <a:ext cx="6094378" cy="430887"/>
          </a:xfrm>
          <a:prstGeom prst="rect">
            <a:avLst/>
          </a:prstGeom>
          <a:noFill/>
        </p:spPr>
        <p:txBody>
          <a:bodyPr wrap="square">
            <a:spAutoFit/>
          </a:bodyPr>
          <a:lstStyle/>
          <a:p>
            <a:r>
              <a:rPr lang="en-US" sz="2200" b="1">
                <a:solidFill>
                  <a:schemeClr val="bg1"/>
                </a:solidFill>
              </a:rPr>
              <a:t> </a:t>
            </a:r>
            <a:endParaRPr lang="en-US"/>
          </a:p>
        </p:txBody>
      </p:sp>
      <p:sp>
        <p:nvSpPr>
          <p:cNvPr id="27" name="Title 1"/>
          <p:cNvSpPr txBox="1"/>
          <p:nvPr/>
        </p:nvSpPr>
        <p:spPr>
          <a:xfrm>
            <a:off x="369362" y="4675768"/>
            <a:ext cx="9144000" cy="155189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a:solidFill>
                  <a:schemeClr val="bg1"/>
                </a:solidFill>
              </a:rPr>
              <a:t>Disaster Response Drone</a:t>
            </a:r>
          </a:p>
          <a:p>
            <a:r>
              <a:rPr lang="en-US" sz="6000" b="1">
                <a:solidFill>
                  <a:schemeClr val="bg1"/>
                </a:solidFill>
              </a:rPr>
              <a:t>for Remote Areas</a:t>
            </a:r>
          </a:p>
        </p:txBody>
      </p:sp>
      <p:sp>
        <p:nvSpPr>
          <p:cNvPr id="3" name="TextBox 2"/>
          <p:cNvSpPr txBox="1"/>
          <p:nvPr/>
        </p:nvSpPr>
        <p:spPr>
          <a:xfrm>
            <a:off x="1163487" y="8806980"/>
            <a:ext cx="3582785" cy="646331"/>
          </a:xfrm>
          <a:prstGeom prst="rect">
            <a:avLst/>
          </a:prstGeom>
          <a:noFill/>
        </p:spPr>
        <p:txBody>
          <a:bodyPr wrap="square" rtlCol="0">
            <a:spAutoFit/>
          </a:bodyPr>
          <a:lstStyle/>
          <a:p>
            <a:r>
              <a:rPr lang="en-US" sz="1600">
                <a:solidFill>
                  <a:schemeClr val="bg1"/>
                </a:solidFill>
              </a:rPr>
              <a:t>1</a:t>
            </a:r>
            <a:r>
              <a:rPr lang="en-US">
                <a:solidFill>
                  <a:schemeClr val="bg1"/>
                </a:solidFill>
              </a:rPr>
              <a:t>. </a:t>
            </a:r>
            <a:r>
              <a:rPr lang="en-US" b="1">
                <a:solidFill>
                  <a:schemeClr val="bg1"/>
                </a:solidFill>
              </a:rPr>
              <a:t>Nikhil Srivatsa </a:t>
            </a:r>
            <a:r>
              <a:rPr lang="en-US">
                <a:solidFill>
                  <a:schemeClr val="bg1"/>
                </a:solidFill>
              </a:rPr>
              <a:t>– 2620090029                                                   </a:t>
            </a:r>
          </a:p>
          <a:p>
            <a:endParaRPr lang="en-IN">
              <a:solidFill>
                <a:schemeClr val="bg1"/>
              </a:solidFill>
            </a:endParaRPr>
          </a:p>
        </p:txBody>
      </p:sp>
      <p:sp>
        <p:nvSpPr>
          <p:cNvPr id="7" name="TextBox 6"/>
          <p:cNvSpPr txBox="1"/>
          <p:nvPr/>
        </p:nvSpPr>
        <p:spPr>
          <a:xfrm>
            <a:off x="1163487" y="9335552"/>
            <a:ext cx="3616037" cy="369332"/>
          </a:xfrm>
          <a:prstGeom prst="rect">
            <a:avLst/>
          </a:prstGeom>
          <a:noFill/>
        </p:spPr>
        <p:txBody>
          <a:bodyPr wrap="square" rtlCol="0">
            <a:spAutoFit/>
          </a:bodyPr>
          <a:lstStyle/>
          <a:p>
            <a:r>
              <a:rPr lang="en-US" sz="1600">
                <a:solidFill>
                  <a:schemeClr val="bg1"/>
                </a:solidFill>
              </a:rPr>
              <a:t>2</a:t>
            </a:r>
            <a:r>
              <a:rPr lang="en-US">
                <a:solidFill>
                  <a:schemeClr val="bg1"/>
                </a:solidFill>
              </a:rPr>
              <a:t>.</a:t>
            </a:r>
            <a:r>
              <a:rPr lang="en-US" sz="1600">
                <a:solidFill>
                  <a:schemeClr val="bg1"/>
                </a:solidFill>
              </a:rPr>
              <a:t> </a:t>
            </a:r>
            <a:r>
              <a:rPr lang="en-US" b="1">
                <a:solidFill>
                  <a:schemeClr val="bg1"/>
                </a:solidFill>
              </a:rPr>
              <a:t>Sai Hitesh  </a:t>
            </a:r>
            <a:r>
              <a:rPr lang="en-US">
                <a:solidFill>
                  <a:schemeClr val="bg1"/>
                </a:solidFill>
              </a:rPr>
              <a:t>– 2620030269</a:t>
            </a:r>
          </a:p>
        </p:txBody>
      </p:sp>
      <p:sp>
        <p:nvSpPr>
          <p:cNvPr id="9" name="TextBox 8"/>
          <p:cNvSpPr txBox="1"/>
          <p:nvPr/>
        </p:nvSpPr>
        <p:spPr>
          <a:xfrm>
            <a:off x="1163487" y="9857825"/>
            <a:ext cx="3424844" cy="665603"/>
          </a:xfrm>
          <a:prstGeom prst="rect">
            <a:avLst/>
          </a:prstGeom>
          <a:noFill/>
        </p:spPr>
        <p:txBody>
          <a:bodyPr wrap="square" rtlCol="0">
            <a:spAutoFit/>
          </a:bodyPr>
          <a:lstStyle/>
          <a:p>
            <a:r>
              <a:rPr lang="en-US" sz="1400">
                <a:solidFill>
                  <a:schemeClr val="bg1"/>
                </a:solidFill>
              </a:rPr>
              <a:t>3</a:t>
            </a:r>
            <a:r>
              <a:rPr lang="en-US">
                <a:solidFill>
                  <a:schemeClr val="bg1"/>
                </a:solidFill>
              </a:rPr>
              <a:t>. </a:t>
            </a:r>
            <a:r>
              <a:rPr lang="en-US" b="1">
                <a:solidFill>
                  <a:schemeClr val="bg1"/>
                </a:solidFill>
              </a:rPr>
              <a:t>Sai Tanush </a:t>
            </a:r>
            <a:r>
              <a:rPr lang="en-US" sz="1600">
                <a:solidFill>
                  <a:schemeClr val="bg1"/>
                </a:solidFill>
              </a:rPr>
              <a:t>– 2620040075</a:t>
            </a:r>
            <a:endParaRPr lang="en-US">
              <a:solidFill>
                <a:schemeClr val="bg1"/>
              </a:solidFill>
            </a:endParaRPr>
          </a:p>
          <a:p>
            <a:endParaRPr lang="en-IN">
              <a:solidFill>
                <a:schemeClr val="bg1"/>
              </a:solidFill>
            </a:endParaRPr>
          </a:p>
        </p:txBody>
      </p:sp>
      <p:sp>
        <p:nvSpPr>
          <p:cNvPr id="12" name="TextBox 11"/>
          <p:cNvSpPr txBox="1"/>
          <p:nvPr/>
        </p:nvSpPr>
        <p:spPr>
          <a:xfrm>
            <a:off x="1163487" y="10451835"/>
            <a:ext cx="3245952" cy="369332"/>
          </a:xfrm>
          <a:prstGeom prst="rect">
            <a:avLst/>
          </a:prstGeom>
          <a:noFill/>
        </p:spPr>
        <p:txBody>
          <a:bodyPr wrap="square" rtlCol="0">
            <a:spAutoFit/>
          </a:bodyPr>
          <a:lstStyle/>
          <a:p>
            <a:r>
              <a:rPr lang="en-US" sz="1600">
                <a:solidFill>
                  <a:schemeClr val="bg1"/>
                </a:solidFill>
              </a:rPr>
              <a:t>4</a:t>
            </a:r>
            <a:r>
              <a:rPr lang="en-US">
                <a:solidFill>
                  <a:schemeClr val="bg1"/>
                </a:solidFill>
              </a:rPr>
              <a:t>. </a:t>
            </a:r>
            <a:r>
              <a:rPr lang="en-US" b="1">
                <a:solidFill>
                  <a:schemeClr val="bg1"/>
                </a:solidFill>
              </a:rPr>
              <a:t>Srujana</a:t>
            </a:r>
            <a:r>
              <a:rPr lang="en-US">
                <a:solidFill>
                  <a:schemeClr val="bg1"/>
                </a:solidFill>
              </a:rPr>
              <a:t> – 2620090032</a:t>
            </a:r>
          </a:p>
        </p:txBody>
      </p:sp>
      <p:sp>
        <p:nvSpPr>
          <p:cNvPr id="14" name="TextBox 13"/>
          <p:cNvSpPr txBox="1"/>
          <p:nvPr/>
        </p:nvSpPr>
        <p:spPr>
          <a:xfrm>
            <a:off x="1163487" y="11024130"/>
            <a:ext cx="3350030" cy="923330"/>
          </a:xfrm>
          <a:prstGeom prst="rect">
            <a:avLst/>
          </a:prstGeom>
          <a:noFill/>
        </p:spPr>
        <p:txBody>
          <a:bodyPr wrap="square" rtlCol="0">
            <a:spAutoFit/>
          </a:bodyPr>
          <a:lstStyle/>
          <a:p>
            <a:r>
              <a:rPr lang="en-US" sz="1600">
                <a:solidFill>
                  <a:schemeClr val="bg1"/>
                </a:solidFill>
              </a:rPr>
              <a:t>5</a:t>
            </a:r>
            <a:r>
              <a:rPr lang="en-US">
                <a:solidFill>
                  <a:schemeClr val="bg1"/>
                </a:solidFill>
              </a:rPr>
              <a:t>. </a:t>
            </a:r>
            <a:r>
              <a:rPr lang="en-US" b="1">
                <a:solidFill>
                  <a:schemeClr val="bg1"/>
                </a:solidFill>
              </a:rPr>
              <a:t>Nayani </a:t>
            </a:r>
            <a:r>
              <a:rPr lang="en-US">
                <a:solidFill>
                  <a:schemeClr val="bg1"/>
                </a:solidFill>
              </a:rPr>
              <a:t> - 2620040007</a:t>
            </a:r>
          </a:p>
          <a:p>
            <a:endParaRPr lang="en-US" sz="1600">
              <a:solidFill>
                <a:schemeClr val="bg1"/>
              </a:solidFill>
            </a:endParaRPr>
          </a:p>
          <a:p>
            <a:endParaRPr lang="en-IN">
              <a:solidFill>
                <a:schemeClr val="bg1"/>
              </a:solidFill>
            </a:endParaRPr>
          </a:p>
        </p:txBody>
      </p:sp>
      <p:sp>
        <p:nvSpPr>
          <p:cNvPr id="17" name="TextBox 16"/>
          <p:cNvSpPr txBox="1"/>
          <p:nvPr/>
        </p:nvSpPr>
        <p:spPr>
          <a:xfrm>
            <a:off x="1117599" y="11624295"/>
            <a:ext cx="3291840" cy="646331"/>
          </a:xfrm>
          <a:prstGeom prst="rect">
            <a:avLst/>
          </a:prstGeom>
          <a:noFill/>
        </p:spPr>
        <p:txBody>
          <a:bodyPr wrap="square" rtlCol="0">
            <a:spAutoFit/>
          </a:bodyPr>
          <a:lstStyle/>
          <a:p>
            <a:r>
              <a:rPr lang="en-US" sz="1600">
                <a:solidFill>
                  <a:schemeClr val="bg1"/>
                </a:solidFill>
              </a:rPr>
              <a:t>6</a:t>
            </a:r>
            <a:r>
              <a:rPr lang="en-US">
                <a:solidFill>
                  <a:schemeClr val="bg1"/>
                </a:solidFill>
              </a:rPr>
              <a:t>. </a:t>
            </a:r>
            <a:r>
              <a:rPr lang="en-US" b="1">
                <a:solidFill>
                  <a:schemeClr val="bg1"/>
                </a:solidFill>
              </a:rPr>
              <a:t>Thanmayi</a:t>
            </a:r>
            <a:r>
              <a:rPr lang="en-US">
                <a:solidFill>
                  <a:schemeClr val="bg1"/>
                </a:solidFill>
              </a:rPr>
              <a:t> - 2620040164</a:t>
            </a:r>
            <a:endParaRPr lang="en-US" sz="1600">
              <a:solidFill>
                <a:schemeClr val="bg1"/>
              </a:solidFill>
            </a:endParaRPr>
          </a:p>
          <a:p>
            <a:endParaRPr lang="en-IN">
              <a:solidFill>
                <a:schemeClr val="bg1"/>
              </a:solidFill>
            </a:endParaRPr>
          </a:p>
        </p:txBody>
      </p:sp>
      <p:sp>
        <p:nvSpPr>
          <p:cNvPr id="34" name="TextBox 33"/>
          <p:cNvSpPr txBox="1"/>
          <p:nvPr/>
        </p:nvSpPr>
        <p:spPr>
          <a:xfrm>
            <a:off x="1163487" y="7468152"/>
            <a:ext cx="6096000" cy="769441"/>
          </a:xfrm>
          <a:prstGeom prst="rect">
            <a:avLst/>
          </a:prstGeom>
          <a:noFill/>
        </p:spPr>
        <p:txBody>
          <a:bodyPr wrap="square">
            <a:spAutoFit/>
          </a:bodyPr>
          <a:lstStyle/>
          <a:p>
            <a:r>
              <a:rPr lang="en-US" sz="2000" b="1">
                <a:solidFill>
                  <a:schemeClr val="bg1"/>
                </a:solidFill>
              </a:rPr>
              <a:t>Presented by                                                                                        </a:t>
            </a:r>
          </a:p>
          <a:p>
            <a:r>
              <a:rPr lang="en-US" sz="2000" b="1">
                <a:solidFill>
                  <a:schemeClr val="bg1"/>
                </a:solidFill>
              </a:rPr>
              <a:t>Group</a:t>
            </a:r>
            <a:r>
              <a:rPr lang="en-US" sz="2400" b="1">
                <a:solidFill>
                  <a:schemeClr val="bg1"/>
                </a:solidFill>
              </a:rPr>
              <a:t> No.: 9                                                                                         </a:t>
            </a:r>
          </a:p>
        </p:txBody>
      </p:sp>
      <p:sp>
        <p:nvSpPr>
          <p:cNvPr id="35" name="Rectangle 34"/>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10"/>
          <p:cNvSpPr>
            <a:spLocks noGrp="1" noRot="1" noMove="1" noResize="1" noEditPoints="1" noAdjustHandles="1" noChangeArrowheads="1" noChangeShapeType="1"/>
          </p:cNvSpPr>
          <p:nvPr/>
        </p:nvSpPr>
        <p:spPr>
          <a:xfrm>
            <a:off x="0" y="3239311"/>
            <a:ext cx="12192000" cy="3618689"/>
          </a:xfrm>
          <a:prstGeom prst="rect">
            <a:avLst/>
          </a:prstGeom>
          <a:gradFill flip="none" rotWithShape="1">
            <a:gsLst>
              <a:gs pos="0">
                <a:schemeClr val="tx1">
                  <a:alpha val="0"/>
                  <a:lumMod val="100000"/>
                </a:schemeClr>
              </a:gs>
              <a:gs pos="100000">
                <a:schemeClr val="tx1">
                  <a:alpha val="5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a:spLocks noGrp="1" noRot="1" noMove="1" noResize="1" noEditPoints="1" noAdjustHandles="1" noChangeArrowheads="1" noChangeShapeType="1"/>
          </p:cNvSpPr>
          <p:nvPr/>
        </p:nvSpPr>
        <p:spPr>
          <a:xfrm>
            <a:off x="0" y="-1"/>
            <a:ext cx="12192000" cy="3429001"/>
          </a:xfrm>
          <a:prstGeom prst="rect">
            <a:avLst/>
          </a:prstGeom>
          <a:gradFill flip="none" rotWithShape="1">
            <a:gsLst>
              <a:gs pos="0">
                <a:schemeClr val="tx1">
                  <a:alpha val="0"/>
                  <a:lumMod val="100000"/>
                </a:schemeClr>
              </a:gs>
              <a:gs pos="100000">
                <a:schemeClr val="tx1">
                  <a:alpha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091462" y="4666446"/>
            <a:ext cx="2694562" cy="954107"/>
          </a:xfrm>
          <a:prstGeom prst="rect">
            <a:avLst/>
          </a:prstGeom>
          <a:noFill/>
        </p:spPr>
        <p:txBody>
          <a:bodyPr wrap="square" rtlCol="0">
            <a:spAutoFit/>
          </a:bodyPr>
          <a:lstStyle/>
          <a:p>
            <a:r>
              <a:rPr lang="en-US" sz="1600">
                <a:solidFill>
                  <a:schemeClr val="bg1"/>
                </a:solidFill>
              </a:rPr>
              <a:t>Under the supervision of:</a:t>
            </a:r>
          </a:p>
          <a:p>
            <a:r>
              <a:rPr lang="en-US" sz="2000" b="1">
                <a:solidFill>
                  <a:schemeClr val="bg1"/>
                </a:solidFill>
              </a:rPr>
              <a:t>Dr. G. Sudhakar</a:t>
            </a:r>
          </a:p>
          <a:p>
            <a:r>
              <a:rPr lang="en-US" sz="1600">
                <a:solidFill>
                  <a:schemeClr val="bg1"/>
                </a:solidFill>
              </a:rPr>
              <a:t>Subject:</a:t>
            </a:r>
            <a:r>
              <a:rPr lang="en-US">
                <a:solidFill>
                  <a:schemeClr val="bg1"/>
                </a:solidFill>
              </a:rPr>
              <a:t> </a:t>
            </a:r>
            <a:r>
              <a:rPr lang="en-US" b="1">
                <a:solidFill>
                  <a:schemeClr val="bg1"/>
                </a:solidFill>
              </a:rPr>
              <a:t>DTIE</a:t>
            </a:r>
          </a:p>
        </p:txBody>
      </p:sp>
      <p:sp>
        <p:nvSpPr>
          <p:cNvPr id="7" name="TextBox 6"/>
          <p:cNvSpPr txBox="1"/>
          <p:nvPr/>
        </p:nvSpPr>
        <p:spPr>
          <a:xfrm>
            <a:off x="1291570" y="3289085"/>
            <a:ext cx="4570129" cy="769441"/>
          </a:xfrm>
          <a:prstGeom prst="rect">
            <a:avLst/>
          </a:prstGeom>
          <a:noFill/>
        </p:spPr>
        <p:txBody>
          <a:bodyPr wrap="square" rtlCol="0">
            <a:spAutoFit/>
          </a:bodyPr>
          <a:lstStyle/>
          <a:p>
            <a:r>
              <a:rPr lang="en-US" sz="2000" b="1">
                <a:solidFill>
                  <a:schemeClr val="bg1"/>
                </a:solidFill>
              </a:rPr>
              <a:t>Presented by                                                                                        </a:t>
            </a:r>
          </a:p>
          <a:p>
            <a:r>
              <a:rPr lang="en-US" sz="2000" b="1">
                <a:solidFill>
                  <a:schemeClr val="bg1"/>
                </a:solidFill>
              </a:rPr>
              <a:t>Group</a:t>
            </a:r>
            <a:r>
              <a:rPr lang="en-US" sz="2400" b="1">
                <a:solidFill>
                  <a:schemeClr val="bg1"/>
                </a:solidFill>
              </a:rPr>
              <a:t> No.: 9                                                                                         </a:t>
            </a:r>
          </a:p>
        </p:txBody>
      </p:sp>
      <p:sp>
        <p:nvSpPr>
          <p:cNvPr id="3" name="TextBox 2"/>
          <p:cNvSpPr txBox="1"/>
          <p:nvPr/>
        </p:nvSpPr>
        <p:spPr>
          <a:xfrm>
            <a:off x="1291570" y="4011027"/>
            <a:ext cx="3582785" cy="2308324"/>
          </a:xfrm>
          <a:prstGeom prst="rect">
            <a:avLst/>
          </a:prstGeom>
          <a:noFill/>
        </p:spPr>
        <p:txBody>
          <a:bodyPr wrap="square" lIns="91440" tIns="45720" rIns="91440" bIns="45720" rtlCol="0" anchor="t">
            <a:spAutoFit/>
          </a:bodyPr>
          <a:lstStyle/>
          <a:p>
            <a:pPr marL="342900" indent="-342900">
              <a:buAutoNum type="arabicPeriod"/>
            </a:pPr>
            <a:r>
              <a:rPr lang="en-US" b="1">
                <a:solidFill>
                  <a:schemeClr val="bg1"/>
                </a:solidFill>
              </a:rPr>
              <a:t>Sai Hitesh  </a:t>
            </a:r>
            <a:r>
              <a:rPr lang="en-US">
                <a:solidFill>
                  <a:schemeClr val="bg1"/>
                </a:solidFill>
              </a:rPr>
              <a:t>– 2620030269</a:t>
            </a:r>
          </a:p>
          <a:p>
            <a:r>
              <a:rPr lang="en-US" b="1">
                <a:solidFill>
                  <a:schemeClr val="bg1"/>
                </a:solidFill>
              </a:rPr>
              <a:t>2. Nayani – </a:t>
            </a:r>
            <a:r>
              <a:rPr lang="en-US">
                <a:solidFill>
                  <a:schemeClr val="bg1"/>
                </a:solidFill>
              </a:rPr>
              <a:t>2620040007</a:t>
            </a:r>
          </a:p>
          <a:p>
            <a:r>
              <a:rPr lang="en-US">
                <a:solidFill>
                  <a:schemeClr val="bg1"/>
                </a:solidFill>
              </a:rPr>
              <a:t>3. Sai Tanush - 2620040075</a:t>
            </a:r>
            <a:endParaRPr lang="en-US" dirty="0">
              <a:solidFill>
                <a:schemeClr val="bg1"/>
              </a:solidFill>
            </a:endParaRPr>
          </a:p>
          <a:p>
            <a:r>
              <a:rPr lang="en-US" b="1">
                <a:solidFill>
                  <a:schemeClr val="bg1"/>
                </a:solidFill>
              </a:rPr>
              <a:t>4. Thanmayi</a:t>
            </a:r>
            <a:r>
              <a:rPr lang="en-US" dirty="0">
                <a:solidFill>
                  <a:schemeClr val="bg1"/>
                </a:solidFill>
              </a:rPr>
              <a:t> - 2620040164</a:t>
            </a:r>
          </a:p>
          <a:p>
            <a:r>
              <a:rPr lang="en-US" b="1">
                <a:solidFill>
                  <a:schemeClr val="bg1"/>
                </a:solidFill>
              </a:rPr>
              <a:t>5. Nikhil Srivatsa </a:t>
            </a:r>
            <a:r>
              <a:rPr lang="en-US" dirty="0">
                <a:solidFill>
                  <a:schemeClr val="bg1"/>
                </a:solidFill>
              </a:rPr>
              <a:t>– 2620090029                                                   </a:t>
            </a:r>
          </a:p>
          <a:p>
            <a:r>
              <a:rPr lang="en-US" b="1">
                <a:solidFill>
                  <a:schemeClr val="bg1"/>
                </a:solidFill>
              </a:rPr>
              <a:t>6. Srujana</a:t>
            </a:r>
            <a:r>
              <a:rPr lang="en-US">
                <a:solidFill>
                  <a:schemeClr val="bg1"/>
                </a:solidFill>
              </a:rPr>
              <a:t> – 2620090032</a:t>
            </a:r>
          </a:p>
          <a:p>
            <a:endParaRPr lang="en-US" dirty="0">
              <a:solidFill>
                <a:schemeClr val="bg1"/>
              </a:solidFill>
            </a:endParaRPr>
          </a:p>
          <a:p>
            <a:endParaRPr lang="en-IN"/>
          </a:p>
        </p:txBody>
      </p:sp>
      <p:sp>
        <p:nvSpPr>
          <p:cNvPr id="15" name="TextBox 14"/>
          <p:cNvSpPr txBox="1"/>
          <p:nvPr/>
        </p:nvSpPr>
        <p:spPr>
          <a:xfrm>
            <a:off x="1139542" y="859065"/>
            <a:ext cx="9444313" cy="1938992"/>
          </a:xfrm>
          <a:prstGeom prst="rect">
            <a:avLst/>
          </a:prstGeom>
          <a:noFill/>
        </p:spPr>
        <p:txBody>
          <a:bodyPr wrap="square">
            <a:spAutoFit/>
          </a:bodyPr>
          <a:lstStyle/>
          <a:p>
            <a:r>
              <a:rPr lang="en-US" sz="6000" b="1">
                <a:solidFill>
                  <a:schemeClr val="bg1"/>
                </a:solidFill>
              </a:rPr>
              <a:t>Disaster Response Drone</a:t>
            </a:r>
          </a:p>
          <a:p>
            <a:r>
              <a:rPr lang="en-US" sz="6000" b="1">
                <a:solidFill>
                  <a:schemeClr val="bg1"/>
                </a:solidFill>
              </a:rPr>
              <a:t>for Remote Areas</a:t>
            </a:r>
          </a:p>
        </p:txBody>
      </p:sp>
      <p:sp>
        <p:nvSpPr>
          <p:cNvPr id="17" name="TextBox 16"/>
          <p:cNvSpPr txBox="1"/>
          <p:nvPr/>
        </p:nvSpPr>
        <p:spPr>
          <a:xfrm>
            <a:off x="4679007" y="7435921"/>
            <a:ext cx="7181254" cy="5693866"/>
          </a:xfrm>
          <a:prstGeom prst="rect">
            <a:avLst/>
          </a:prstGeom>
          <a:noFill/>
        </p:spPr>
        <p:txBody>
          <a:bodyPr wrap="square">
            <a:spAutoFit/>
          </a:bodyPr>
          <a:lstStyle/>
          <a:p>
            <a:r>
              <a:rPr lang="en-US" sz="2800">
                <a:solidFill>
                  <a:schemeClr val="bg1"/>
                </a:solidFill>
              </a:rPr>
              <a:t>Abstract / Proposal</a:t>
            </a:r>
          </a:p>
          <a:p>
            <a:r>
              <a:rPr lang="en-US" sz="2800">
                <a:solidFill>
                  <a:schemeClr val="bg1"/>
                </a:solidFill>
              </a:rPr>
              <a:t>Introduction (why, advantages, techniques)</a:t>
            </a:r>
          </a:p>
          <a:p>
            <a:r>
              <a:rPr lang="en-US" sz="2800">
                <a:solidFill>
                  <a:schemeClr val="bg1"/>
                </a:solidFill>
              </a:rPr>
              <a:t>Objectives</a:t>
            </a:r>
          </a:p>
          <a:p>
            <a:r>
              <a:rPr lang="en-US" sz="2800">
                <a:solidFill>
                  <a:schemeClr val="bg1"/>
                </a:solidFill>
              </a:rPr>
              <a:t>Background study / literature survey</a:t>
            </a:r>
          </a:p>
          <a:p>
            <a:r>
              <a:rPr lang="en-US" sz="2800">
                <a:solidFill>
                  <a:schemeClr val="bg1"/>
                </a:solidFill>
              </a:rPr>
              <a:t>Methodology</a:t>
            </a:r>
          </a:p>
          <a:p>
            <a:r>
              <a:rPr lang="en-US" sz="2800">
                <a:solidFill>
                  <a:schemeClr val="bg1"/>
                </a:solidFill>
              </a:rPr>
              <a:t>Software components</a:t>
            </a:r>
          </a:p>
          <a:p>
            <a:r>
              <a:rPr lang="en-US" sz="2800">
                <a:solidFill>
                  <a:schemeClr val="bg1"/>
                </a:solidFill>
              </a:rPr>
              <a:t>Hardware components</a:t>
            </a:r>
          </a:p>
          <a:p>
            <a:r>
              <a:rPr lang="en-US" sz="2800">
                <a:solidFill>
                  <a:schemeClr val="bg1"/>
                </a:solidFill>
              </a:rPr>
              <a:t>Results</a:t>
            </a:r>
          </a:p>
          <a:p>
            <a:r>
              <a:rPr lang="en-US" sz="2800">
                <a:solidFill>
                  <a:schemeClr val="bg1"/>
                </a:solidFill>
              </a:rPr>
              <a:t>Conclusion</a:t>
            </a:r>
          </a:p>
          <a:p>
            <a:endParaRPr lang="en-US" sz="2800">
              <a:solidFill>
                <a:schemeClr val="bg1"/>
              </a:solidFill>
            </a:endParaRPr>
          </a:p>
          <a:p>
            <a:endParaRPr lang="en-US" sz="2800">
              <a:solidFill>
                <a:schemeClr val="bg1"/>
              </a:solidFill>
            </a:endParaRPr>
          </a:p>
          <a:p>
            <a:endParaRPr lang="en-US" sz="2800">
              <a:solidFill>
                <a:schemeClr val="bg1"/>
              </a:solidFill>
            </a:endParaRPr>
          </a:p>
          <a:p>
            <a:endParaRPr lang="en-US" sz="2800">
              <a:solidFill>
                <a:schemeClr val="bg1"/>
              </a:solidFill>
            </a:endParaRPr>
          </a:p>
        </p:txBody>
      </p:sp>
      <p:sp>
        <p:nvSpPr>
          <p:cNvPr id="18" name="Rectangle 1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8800"/>
                    </a14:imgEffect>
                    <a14:imgEffect>
                      <a14:saturation sat="54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flip="none" rotWithShape="1">
            <a:gsLst>
              <a:gs pos="0">
                <a:schemeClr val="tx1">
                  <a:alpha val="0"/>
                  <a:lumMod val="100000"/>
                </a:schemeClr>
              </a:gs>
              <a:gs pos="100000">
                <a:schemeClr val="tx1">
                  <a:alpha val="5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1622"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p:cNvSpPr txBox="1"/>
          <p:nvPr/>
        </p:nvSpPr>
        <p:spPr>
          <a:xfrm>
            <a:off x="3047189" y="3802080"/>
            <a:ext cx="6094378" cy="430887"/>
          </a:xfrm>
          <a:prstGeom prst="rect">
            <a:avLst/>
          </a:prstGeom>
          <a:noFill/>
        </p:spPr>
        <p:txBody>
          <a:bodyPr wrap="square">
            <a:spAutoFit/>
          </a:bodyPr>
          <a:lstStyle/>
          <a:p>
            <a:r>
              <a:rPr lang="en-US" sz="2200" b="1">
                <a:solidFill>
                  <a:schemeClr val="bg1"/>
                </a:solidFill>
              </a:rPr>
              <a:t> </a:t>
            </a:r>
            <a:endParaRPr lang="en-US"/>
          </a:p>
        </p:txBody>
      </p:sp>
      <p:sp>
        <p:nvSpPr>
          <p:cNvPr id="2" name="TextBox 1"/>
          <p:cNvSpPr txBox="1"/>
          <p:nvPr/>
        </p:nvSpPr>
        <p:spPr>
          <a:xfrm>
            <a:off x="5184759" y="-2272"/>
            <a:ext cx="7128071" cy="6863417"/>
          </a:xfrm>
          <a:prstGeom prst="rect">
            <a:avLst/>
          </a:prstGeom>
          <a:noFill/>
        </p:spPr>
        <p:txBody>
          <a:bodyPr wrap="square" lIns="91440" tIns="45720" rIns="91440" bIns="45720" rtlCol="0" anchor="t">
            <a:spAutoFit/>
          </a:bodyPr>
          <a:lstStyle/>
          <a:p>
            <a:pPr marL="342900" indent="-342900">
              <a:buFont typeface="Wingdings"/>
              <a:buChar char="Ø"/>
            </a:pPr>
            <a:r>
              <a:rPr lang="en-US" sz="2000" b="1">
                <a:solidFill>
                  <a:schemeClr val="bg1"/>
                </a:solidFill>
              </a:rPr>
              <a:t>Vision and Mission</a:t>
            </a:r>
            <a:endParaRPr lang="en-US" sz="2000" b="1" dirty="0">
              <a:solidFill>
                <a:schemeClr val="bg1"/>
              </a:solidFill>
            </a:endParaRPr>
          </a:p>
          <a:p>
            <a:r>
              <a:rPr lang="en-US" sz="2000" b="1">
                <a:solidFill>
                  <a:schemeClr val="bg1"/>
                </a:solidFill>
              </a:rPr>
              <a:t>&gt; Problem faced during disasters</a:t>
            </a:r>
            <a:endParaRPr lang="en-US" sz="2000" b="1" dirty="0">
              <a:solidFill>
                <a:schemeClr val="bg1"/>
              </a:solidFill>
            </a:endParaRPr>
          </a:p>
          <a:p>
            <a:r>
              <a:rPr lang="en-US" sz="2000" b="1">
                <a:solidFill>
                  <a:schemeClr val="bg1"/>
                </a:solidFill>
              </a:rPr>
              <a:t>      &gt; Empathy</a:t>
            </a:r>
            <a:endParaRPr lang="en-US" sz="2000" b="1" dirty="0">
              <a:solidFill>
                <a:schemeClr val="bg1"/>
              </a:solidFill>
            </a:endParaRPr>
          </a:p>
          <a:p>
            <a:r>
              <a:rPr lang="en-US" sz="2000" b="1" dirty="0">
                <a:solidFill>
                  <a:schemeClr val="bg1"/>
                </a:solidFill>
              </a:rPr>
              <a:t>            &gt; Defining the Pr</a:t>
            </a:r>
            <a:r>
              <a:rPr lang="en-US" sz="2000" b="1">
                <a:solidFill>
                  <a:schemeClr val="bg1"/>
                </a:solidFill>
              </a:rPr>
              <a:t>oblem statement</a:t>
            </a:r>
            <a:endParaRPr lang="en-US" sz="2000" b="1" dirty="0">
              <a:solidFill>
                <a:schemeClr val="bg1"/>
              </a:solidFill>
            </a:endParaRPr>
          </a:p>
          <a:p>
            <a:r>
              <a:rPr lang="en-US" sz="2000" b="1">
                <a:solidFill>
                  <a:schemeClr val="bg1"/>
                </a:solidFill>
              </a:rPr>
              <a:t>&gt;Research and Background study</a:t>
            </a:r>
            <a:endParaRPr lang="en-US" sz="2000" b="1" dirty="0">
              <a:solidFill>
                <a:schemeClr val="bg1"/>
              </a:solidFill>
            </a:endParaRPr>
          </a:p>
          <a:p>
            <a:r>
              <a:rPr lang="en-US" sz="2000" b="1">
                <a:solidFill>
                  <a:schemeClr val="bg1"/>
                </a:solidFill>
              </a:rPr>
              <a:t>&gt;Market and Industrial Study</a:t>
            </a:r>
            <a:endParaRPr lang="en-US" sz="2000" b="1" dirty="0">
              <a:solidFill>
                <a:schemeClr val="bg1"/>
              </a:solidFill>
            </a:endParaRPr>
          </a:p>
          <a:p>
            <a:r>
              <a:rPr lang="en-US" sz="2000" b="1">
                <a:solidFill>
                  <a:schemeClr val="bg1"/>
                </a:solidFill>
              </a:rPr>
              <a:t>&gt;Target Users and Costumers</a:t>
            </a:r>
            <a:endParaRPr lang="en-US" sz="2000" b="1" dirty="0">
              <a:solidFill>
                <a:schemeClr val="bg1"/>
              </a:solidFill>
            </a:endParaRPr>
          </a:p>
          <a:p>
            <a:r>
              <a:rPr lang="en-US" sz="2000" b="1" dirty="0">
                <a:solidFill>
                  <a:schemeClr val="bg1"/>
                </a:solidFill>
              </a:rPr>
              <a:t>&gt;Competitors and Benchma</a:t>
            </a:r>
            <a:r>
              <a:rPr lang="en-US" sz="2000" b="1">
                <a:solidFill>
                  <a:schemeClr val="bg1"/>
                </a:solidFill>
              </a:rPr>
              <a:t>rks</a:t>
            </a:r>
            <a:endParaRPr lang="en-US" sz="2000" b="1" dirty="0">
              <a:solidFill>
                <a:schemeClr val="bg1"/>
              </a:solidFill>
            </a:endParaRPr>
          </a:p>
          <a:p>
            <a:r>
              <a:rPr lang="en-US" sz="2000" b="1" dirty="0">
                <a:solidFill>
                  <a:schemeClr val="bg1"/>
                </a:solidFill>
              </a:rPr>
              <a:t>&gt;Proposed </a:t>
            </a:r>
            <a:r>
              <a:rPr lang="en-US" sz="2000" b="1">
                <a:solidFill>
                  <a:schemeClr val="bg1"/>
                </a:solidFill>
              </a:rPr>
              <a:t>Competitive Advantage</a:t>
            </a:r>
            <a:endParaRPr lang="en-US" sz="2000">
              <a:solidFill>
                <a:schemeClr val="bg1"/>
              </a:solidFill>
            </a:endParaRPr>
          </a:p>
          <a:p>
            <a:r>
              <a:rPr lang="en-US" sz="2000" b="1">
                <a:solidFill>
                  <a:schemeClr val="bg1"/>
                </a:solidFill>
              </a:rPr>
              <a:t>               &gt;   Idea Generation</a:t>
            </a:r>
            <a:endParaRPr lang="en-US" sz="2000" b="1" dirty="0">
              <a:solidFill>
                <a:schemeClr val="bg1"/>
              </a:solidFill>
            </a:endParaRPr>
          </a:p>
          <a:p>
            <a:r>
              <a:rPr lang="en-US" sz="2000" b="1">
                <a:solidFill>
                  <a:schemeClr val="bg1"/>
                </a:solidFill>
              </a:rPr>
              <a:t>                 &gt;  Multi voting</a:t>
            </a:r>
            <a:endParaRPr lang="en-US" sz="2000" b="1" dirty="0">
              <a:solidFill>
                <a:schemeClr val="bg1"/>
              </a:solidFill>
            </a:endParaRPr>
          </a:p>
          <a:p>
            <a:r>
              <a:rPr lang="en-US" sz="2000" b="1" dirty="0">
                <a:solidFill>
                  <a:schemeClr val="bg1"/>
                </a:solidFill>
              </a:rPr>
              <a:t>               &gt;  </a:t>
            </a:r>
            <a:r>
              <a:rPr lang="en-US" sz="2000" b="1" dirty="0">
                <a:solidFill>
                  <a:schemeClr val="bg1"/>
                </a:solidFill>
                <a:ea typeface="+mn-lt"/>
                <a:cs typeface="+mn-lt"/>
              </a:rPr>
              <a:t>Proposed Drone Concept, Idea, Prototy</a:t>
            </a:r>
            <a:r>
              <a:rPr lang="en-US" sz="2000" b="1">
                <a:solidFill>
                  <a:schemeClr val="bg1"/>
                </a:solidFill>
                <a:ea typeface="+mn-lt"/>
                <a:cs typeface="+mn-lt"/>
              </a:rPr>
              <a:t>pe, Solution</a:t>
            </a:r>
            <a:endParaRPr lang="en-US" sz="2000" b="1" dirty="0">
              <a:solidFill>
                <a:schemeClr val="bg1"/>
              </a:solidFill>
              <a:ea typeface="+mn-lt"/>
              <a:cs typeface="+mn-lt"/>
            </a:endParaRPr>
          </a:p>
          <a:p>
            <a:r>
              <a:rPr lang="en-US" sz="2000" b="1">
                <a:solidFill>
                  <a:schemeClr val="bg1"/>
                </a:solidFill>
              </a:rPr>
              <a:t>&gt;System Architecture</a:t>
            </a:r>
            <a:endParaRPr lang="en-US" sz="2000" b="1" dirty="0">
              <a:solidFill>
                <a:schemeClr val="bg1"/>
              </a:solidFill>
            </a:endParaRPr>
          </a:p>
          <a:p>
            <a:r>
              <a:rPr lang="en-US" sz="2000" b="1">
                <a:solidFill>
                  <a:schemeClr val="bg1"/>
                </a:solidFill>
              </a:rPr>
              <a:t>&gt;Risk and Gaps</a:t>
            </a:r>
            <a:endParaRPr lang="en-US" sz="2000" b="1" dirty="0">
              <a:solidFill>
                <a:schemeClr val="bg1"/>
              </a:solidFill>
            </a:endParaRPr>
          </a:p>
          <a:p>
            <a:r>
              <a:rPr lang="en-US" sz="2000" b="1">
                <a:solidFill>
                  <a:schemeClr val="bg1"/>
                </a:solidFill>
              </a:rPr>
              <a:t>&gt;Lean Canvas model</a:t>
            </a:r>
            <a:endParaRPr lang="en-US" sz="2000">
              <a:solidFill>
                <a:schemeClr val="bg1"/>
              </a:solidFill>
            </a:endParaRPr>
          </a:p>
          <a:p>
            <a:r>
              <a:rPr lang="en-US" sz="2000" b="1">
                <a:solidFill>
                  <a:schemeClr val="bg1"/>
                </a:solidFill>
              </a:rPr>
              <a:t>            &gt; Rough Prototype – Working</a:t>
            </a:r>
            <a:endParaRPr lang="en-US" sz="2000" b="1" dirty="0">
              <a:solidFill>
                <a:schemeClr val="bg1"/>
              </a:solidFill>
            </a:endParaRPr>
          </a:p>
          <a:p>
            <a:r>
              <a:rPr lang="en-US" sz="2000" b="1">
                <a:solidFill>
                  <a:schemeClr val="bg1"/>
                </a:solidFill>
              </a:rPr>
              <a:t>&gt;Capital and Finance</a:t>
            </a:r>
            <a:endParaRPr lang="en-US" sz="2000" b="1" dirty="0">
              <a:solidFill>
                <a:schemeClr val="bg1"/>
              </a:solidFill>
            </a:endParaRPr>
          </a:p>
          <a:p>
            <a:r>
              <a:rPr lang="en-US" sz="2000" b="1">
                <a:solidFill>
                  <a:schemeClr val="bg1"/>
                </a:solidFill>
              </a:rPr>
              <a:t>&gt; Demonstration</a:t>
            </a:r>
            <a:endParaRPr lang="en-US" sz="2000">
              <a:solidFill>
                <a:schemeClr val="bg1"/>
              </a:solidFill>
            </a:endParaRPr>
          </a:p>
          <a:p>
            <a:r>
              <a:rPr lang="en-US" sz="2000" b="1">
                <a:solidFill>
                  <a:schemeClr val="bg1"/>
                </a:solidFill>
              </a:rPr>
              <a:t>&gt; Outcome and Conclusion</a:t>
            </a:r>
            <a:endParaRPr lang="en-US" sz="2000">
              <a:solidFill>
                <a:schemeClr val="bg1"/>
              </a:solidFill>
            </a:endParaRPr>
          </a:p>
          <a:p>
            <a:endParaRPr lang="en-US" sz="2000" b="1" dirty="0">
              <a:solidFill>
                <a:schemeClr val="bg1"/>
              </a:solidFill>
            </a:endParaRPr>
          </a:p>
          <a:p>
            <a:endParaRPr lang="en-US" sz="2000" b="1" dirty="0">
              <a:solidFill>
                <a:schemeClr val="bg1"/>
              </a:solidFill>
            </a:endParaRPr>
          </a:p>
          <a:p>
            <a:endParaRPr lang="en-US" sz="2000" b="1" dirty="0">
              <a:solidFill>
                <a:schemeClr val="bg1"/>
              </a:solidFill>
            </a:endParaRPr>
          </a:p>
        </p:txBody>
      </p:sp>
      <p:sp>
        <p:nvSpPr>
          <p:cNvPr id="21" name="Oval 20"/>
          <p:cNvSpPr/>
          <p:nvPr/>
        </p:nvSpPr>
        <p:spPr>
          <a:xfrm>
            <a:off x="355192" y="1368768"/>
            <a:ext cx="3804493" cy="3684895"/>
          </a:xfrm>
          <a:prstGeom prst="ellipse">
            <a:avLst/>
          </a:prstGeom>
          <a:gradFill flip="none" rotWithShape="1">
            <a:gsLst>
              <a:gs pos="0">
                <a:schemeClr val="tx1">
                  <a:lumMod val="95000"/>
                  <a:lumOff val="5000"/>
                </a:schemeClr>
              </a:gs>
              <a:gs pos="23000">
                <a:schemeClr val="tx1">
                  <a:lumMod val="95000"/>
                  <a:lumOff val="5000"/>
                  <a:alpha val="75000"/>
                </a:schemeClr>
              </a:gs>
              <a:gs pos="69000">
                <a:schemeClr val="bg2">
                  <a:lumMod val="25000"/>
                  <a:alpha val="55000"/>
                </a:schemeClr>
              </a:gs>
              <a:gs pos="97000">
                <a:schemeClr val="bg2">
                  <a:lumMod val="25000"/>
                  <a:alpha val="7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1549257" y="2755367"/>
            <a:ext cx="2995863" cy="923330"/>
          </a:xfrm>
          <a:prstGeom prst="rect">
            <a:avLst/>
          </a:prstGeom>
          <a:noFill/>
        </p:spPr>
        <p:txBody>
          <a:bodyPr wrap="square">
            <a:spAutoFit/>
          </a:bodyPr>
          <a:lstStyle/>
          <a:p>
            <a:r>
              <a:rPr lang="en-US" sz="5400" b="1" i="1">
                <a:solidFill>
                  <a:schemeClr val="bg1"/>
                </a:solidFill>
              </a:rPr>
              <a:t>Agenda</a:t>
            </a:r>
            <a:endParaRPr lang="en-IN" sz="5400" b="1" i="1">
              <a:solidFill>
                <a:schemeClr val="bg1"/>
              </a:solidFill>
            </a:endParaRPr>
          </a:p>
        </p:txBody>
      </p:sp>
      <p:sp>
        <p:nvSpPr>
          <p:cNvPr id="22" name="Rectangle 21"/>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p:cNvSpPr/>
          <p:nvPr/>
        </p:nvSpPr>
        <p:spPr>
          <a:xfrm>
            <a:off x="-1622"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p:txBody>
          <a:bodyPr>
            <a:normAutofit/>
          </a:bodyPr>
          <a:lstStyle/>
          <a:p>
            <a:r>
              <a:rPr lang="en-US" sz="6000" b="1">
                <a:solidFill>
                  <a:schemeClr val="bg1"/>
                </a:solidFill>
                <a:latin typeface="Aptos"/>
              </a:rPr>
              <a:t>Vision and Misson</a:t>
            </a:r>
            <a:endParaRPr lang="en-US" sz="6000" b="1" dirty="0">
              <a:solidFill>
                <a:schemeClr val="bg1"/>
              </a:solidFill>
              <a:latin typeface="Aptos"/>
            </a:endParaRPr>
          </a:p>
        </p:txBody>
      </p:sp>
      <p:sp>
        <p:nvSpPr>
          <p:cNvPr id="3" name="Content Placeholder 2"/>
          <p:cNvSpPr>
            <a:spLocks noGrp="1"/>
          </p:cNvSpPr>
          <p:nvPr>
            <p:ph idx="1"/>
          </p:nvPr>
        </p:nvSpPr>
        <p:spPr>
          <a:xfrm>
            <a:off x="838200" y="1515869"/>
            <a:ext cx="10515600" cy="4706711"/>
          </a:xfrm>
        </p:spPr>
        <p:txBody>
          <a:bodyPr vert="horz" lIns="91440" tIns="45720" rIns="91440" bIns="45720" rtlCol="0" anchor="t">
            <a:normAutofit fontScale="85000" lnSpcReduction="10000"/>
          </a:bodyPr>
          <a:lstStyle/>
          <a:p>
            <a:pPr marL="0" indent="0">
              <a:buNone/>
            </a:pPr>
            <a:r>
              <a:rPr lang="en-IN" sz="3200" b="1">
                <a:solidFill>
                  <a:schemeClr val="bg1"/>
                </a:solidFill>
                <a:ea typeface="+mn-lt"/>
                <a:cs typeface="+mn-lt"/>
              </a:rPr>
              <a:t>Our Vision:</a:t>
            </a:r>
            <a:r>
              <a:rPr lang="en-IN" sz="3200">
                <a:solidFill>
                  <a:schemeClr val="bg1"/>
                </a:solidFill>
                <a:ea typeface="+mn-lt"/>
                <a:cs typeface="+mn-lt"/>
              </a:rPr>
              <a:t> To make disaster response faster, safer, and more effective by using affordable drone technology to locate survivors in remote and disaster-affected areas.</a:t>
            </a:r>
            <a:endParaRPr lang="en-US" sz="3200">
              <a:solidFill>
                <a:schemeClr val="bg1"/>
              </a:solidFill>
              <a:ea typeface="+mn-lt"/>
              <a:cs typeface="+mn-lt"/>
            </a:endParaRPr>
          </a:p>
          <a:p>
            <a:pPr>
              <a:buFont typeface="Arial"/>
              <a:buChar char="•"/>
            </a:pPr>
            <a:endParaRPr lang="en-IN" sz="3200" dirty="0">
              <a:solidFill>
                <a:schemeClr val="bg1"/>
              </a:solidFill>
              <a:ea typeface="+mn-lt"/>
              <a:cs typeface="+mn-lt"/>
            </a:endParaRPr>
          </a:p>
          <a:p>
            <a:pPr marL="0" indent="0">
              <a:buNone/>
            </a:pPr>
            <a:r>
              <a:rPr lang="en-IN" sz="3200" b="1">
                <a:solidFill>
                  <a:schemeClr val="bg1"/>
                </a:solidFill>
                <a:ea typeface="+mn-lt"/>
                <a:cs typeface="+mn-lt"/>
              </a:rPr>
              <a:t>Our Mission:</a:t>
            </a:r>
            <a:r>
              <a:rPr lang="en-IN" sz="3200" dirty="0">
                <a:solidFill>
                  <a:schemeClr val="bg1"/>
                </a:solidFill>
                <a:ea typeface="+mn-lt"/>
                <a:cs typeface="+mn-lt"/>
              </a:rPr>
              <a:t> </a:t>
            </a:r>
            <a:endParaRPr lang="en-IN" sz="3200" dirty="0">
              <a:solidFill>
                <a:schemeClr val="bg1"/>
              </a:solidFill>
            </a:endParaRPr>
          </a:p>
          <a:p>
            <a:pPr>
              <a:buFont typeface="Arial"/>
              <a:buChar char="•"/>
            </a:pPr>
            <a:r>
              <a:rPr lang="en-IN" sz="3200">
                <a:solidFill>
                  <a:schemeClr val="bg1"/>
                </a:solidFill>
                <a:ea typeface="+mn-lt"/>
                <a:cs typeface="+mn-lt"/>
              </a:rPr>
              <a:t>Develop a drone-based survivor detection and monitoring system.</a:t>
            </a:r>
            <a:endParaRPr lang="en-IN" sz="3200" dirty="0">
              <a:solidFill>
                <a:schemeClr val="bg1"/>
              </a:solidFill>
              <a:latin typeface="Aptos"/>
            </a:endParaRPr>
          </a:p>
          <a:p>
            <a:pPr>
              <a:buFont typeface="Arial"/>
              <a:buChar char="•"/>
            </a:pPr>
            <a:r>
              <a:rPr lang="en-IN" sz="3200">
                <a:solidFill>
                  <a:schemeClr val="bg1"/>
                </a:solidFill>
                <a:ea typeface="+mn-lt"/>
                <a:cs typeface="+mn-lt"/>
              </a:rPr>
              <a:t>Integrate thermal imaging, GPS, cameras, and real-time communication.</a:t>
            </a:r>
            <a:endParaRPr lang="en-IN"/>
          </a:p>
          <a:p>
            <a:pPr>
              <a:buFont typeface="Arial"/>
              <a:buChar char="•"/>
            </a:pPr>
            <a:r>
              <a:rPr lang="en-IN" sz="3200">
                <a:solidFill>
                  <a:schemeClr val="bg1"/>
                </a:solidFill>
                <a:ea typeface="+mn-lt"/>
                <a:cs typeface="+mn-lt"/>
              </a:rPr>
              <a:t>Reduce risks to rescue personnel and improve emergency response.</a:t>
            </a:r>
            <a:endParaRPr lang="en-IN"/>
          </a:p>
          <a:p>
            <a:pPr>
              <a:buFont typeface="Arial"/>
              <a:buChar char="•"/>
            </a:pPr>
            <a:r>
              <a:rPr lang="en-IN" sz="3200">
                <a:solidFill>
                  <a:schemeClr val="bg1"/>
                </a:solidFill>
                <a:ea typeface="+mn-lt"/>
                <a:cs typeface="+mn-lt"/>
              </a:rPr>
              <a:t>Explore cost-effective thermal sensing using locally developed semiconductor technology.</a:t>
            </a:r>
            <a:endParaRPr lang="en-IN"/>
          </a:p>
          <a:p>
            <a:pPr>
              <a:buFont typeface="Arial"/>
              <a:buChar char="•"/>
            </a:pPr>
            <a:endParaRPr lang="en-IN" sz="3200" dirty="0">
              <a:solidFill>
                <a:schemeClr val="bg1"/>
              </a:solidFill>
              <a:latin typeface="Aptos"/>
            </a:endParaRPr>
          </a:p>
          <a:p>
            <a:pPr marL="0" indent="0">
              <a:buNone/>
            </a:pPr>
            <a:endParaRPr lang="en-IN" sz="2400" b="1"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5D896-B461-F2C3-E23B-071100CE3CB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1D9DD15-6277-117D-905C-659B3807BF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53B53171-5499-A749-7F8A-53D30C6C09A0}"/>
              </a:ext>
            </a:extLst>
          </p:cNvPr>
          <p:cNvSpPr/>
          <p:nvPr/>
        </p:nvSpPr>
        <p:spPr>
          <a:xfrm>
            <a:off x="-1622"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26F8743-4700-145F-D733-5837BDEE97C8}"/>
              </a:ext>
            </a:extLst>
          </p:cNvPr>
          <p:cNvSpPr>
            <a:spLocks noGrp="1"/>
          </p:cNvSpPr>
          <p:nvPr>
            <p:ph type="title"/>
          </p:nvPr>
        </p:nvSpPr>
        <p:spPr/>
        <p:txBody>
          <a:bodyPr>
            <a:normAutofit fontScale="90000"/>
          </a:bodyPr>
          <a:lstStyle/>
          <a:p>
            <a:r>
              <a:rPr lang="en-US" sz="6000" b="1" dirty="0">
                <a:solidFill>
                  <a:schemeClr val="bg1"/>
                </a:solidFill>
                <a:latin typeface="+mn-lt"/>
              </a:rPr>
              <a:t>Problem faced during disasters</a:t>
            </a:r>
          </a:p>
        </p:txBody>
      </p:sp>
      <p:sp>
        <p:nvSpPr>
          <p:cNvPr id="3" name="Content Placeholder 2">
            <a:extLst>
              <a:ext uri="{FF2B5EF4-FFF2-40B4-BE49-F238E27FC236}">
                <a16:creationId xmlns:a16="http://schemas.microsoft.com/office/drawing/2014/main" id="{44F48391-243F-50AD-DBEF-B0C5713225B7}"/>
              </a:ext>
            </a:extLst>
          </p:cNvPr>
          <p:cNvSpPr>
            <a:spLocks noGrp="1"/>
          </p:cNvSpPr>
          <p:nvPr>
            <p:ph idx="1"/>
          </p:nvPr>
        </p:nvSpPr>
        <p:spPr>
          <a:xfrm>
            <a:off x="838200" y="1515869"/>
            <a:ext cx="10515600" cy="5330166"/>
          </a:xfrm>
        </p:spPr>
        <p:txBody>
          <a:bodyPr vert="horz" lIns="91440" tIns="45720" rIns="91440" bIns="45720" rtlCol="0" anchor="t">
            <a:noAutofit/>
          </a:bodyPr>
          <a:lstStyle/>
          <a:p>
            <a:pPr marL="0" indent="0">
              <a:buNone/>
            </a:pPr>
            <a:r>
              <a:rPr lang="en-IN" sz="1600" b="1" dirty="0">
                <a:solidFill>
                  <a:schemeClr val="bg1"/>
                </a:solidFill>
                <a:ea typeface="+mn-lt"/>
                <a:cs typeface="+mn-lt"/>
              </a:rPr>
              <a:t>During disasters such as floods, earthquakes, landslides, and forest fires, remote areas may become dangerous or impossible for rescue teams to access.</a:t>
            </a:r>
            <a:endParaRPr lang="en-IN" sz="1600" b="1">
              <a:solidFill>
                <a:schemeClr val="bg1"/>
              </a:solidFill>
            </a:endParaRPr>
          </a:p>
          <a:p>
            <a:pPr marL="0" indent="0">
              <a:buNone/>
            </a:pPr>
            <a:endParaRPr lang="en-IN" sz="1600" b="1" dirty="0">
              <a:solidFill>
                <a:schemeClr val="bg1"/>
              </a:solidFill>
              <a:ea typeface="+mn-lt"/>
              <a:cs typeface="+mn-lt"/>
            </a:endParaRPr>
          </a:p>
          <a:p>
            <a:pPr marL="0" indent="0">
              <a:buNone/>
            </a:pPr>
            <a:r>
              <a:rPr lang="en-IN" sz="1600" b="1" dirty="0">
                <a:solidFill>
                  <a:schemeClr val="bg1"/>
                </a:solidFill>
                <a:ea typeface="+mn-lt"/>
                <a:cs typeface="+mn-lt"/>
              </a:rPr>
              <a:t>Main problems are:</a:t>
            </a:r>
          </a:p>
          <a:p>
            <a:pPr>
              <a:buFont typeface="Calibri" panose="020B0604020202020204" pitchFamily="34" charset="0"/>
              <a:buChar char="-"/>
            </a:pPr>
            <a:r>
              <a:rPr lang="en-IN" sz="1600" b="1" dirty="0">
                <a:solidFill>
                  <a:schemeClr val="bg1"/>
                </a:solidFill>
                <a:ea typeface="+mn-lt"/>
                <a:cs typeface="+mn-lt"/>
              </a:rPr>
              <a:t>Rescue teams may not be able to reach affected locations quickly.</a:t>
            </a:r>
          </a:p>
          <a:p>
            <a:pPr>
              <a:buFont typeface="Calibri" panose="020B0604020202020204" pitchFamily="34" charset="0"/>
              <a:buChar char="-"/>
            </a:pPr>
            <a:r>
              <a:rPr lang="en-IN" sz="1600" b="1" dirty="0">
                <a:solidFill>
                  <a:schemeClr val="bg1"/>
                </a:solidFill>
                <a:ea typeface="+mn-lt"/>
                <a:cs typeface="+mn-lt"/>
              </a:rPr>
              <a:t>Finding trapped or stranded people takes time.</a:t>
            </a:r>
          </a:p>
          <a:p>
            <a:pPr>
              <a:buFont typeface="Calibri" panose="020B0604020202020204" pitchFamily="34" charset="0"/>
              <a:buChar char="-"/>
            </a:pPr>
            <a:r>
              <a:rPr lang="en-IN" sz="1600" b="1" dirty="0">
                <a:solidFill>
                  <a:schemeClr val="bg1"/>
                </a:solidFill>
                <a:ea typeface="+mn-lt"/>
                <a:cs typeface="+mn-lt"/>
              </a:rPr>
              <a:t>Rescuers may be exposed to dangerous conditions.</a:t>
            </a:r>
          </a:p>
          <a:p>
            <a:pPr>
              <a:buFont typeface="Calibri" panose="020B0604020202020204" pitchFamily="34" charset="0"/>
              <a:buChar char="-"/>
            </a:pPr>
            <a:r>
              <a:rPr lang="en-IN" sz="1600" b="1" dirty="0">
                <a:solidFill>
                  <a:schemeClr val="bg1"/>
                </a:solidFill>
                <a:ea typeface="+mn-lt"/>
                <a:cs typeface="+mn-lt"/>
              </a:rPr>
              <a:t>Communication and information from remote locations may be limited.</a:t>
            </a:r>
          </a:p>
          <a:p>
            <a:pPr>
              <a:buFont typeface="Calibri" panose="020B0604020202020204" pitchFamily="34" charset="0"/>
              <a:buChar char="-"/>
            </a:pPr>
            <a:r>
              <a:rPr lang="en-IN" sz="1600" b="1" dirty="0">
                <a:solidFill>
                  <a:schemeClr val="bg1"/>
                </a:solidFill>
                <a:ea typeface="+mn-lt"/>
                <a:cs typeface="+mn-lt"/>
              </a:rPr>
              <a:t>Survivors may be difficult to detect at night or in low visibility.</a:t>
            </a:r>
          </a:p>
          <a:p>
            <a:pPr>
              <a:buFont typeface="Calibri" panose="020B0604020202020204" pitchFamily="34" charset="0"/>
              <a:buChar char="-"/>
            </a:pPr>
            <a:r>
              <a:rPr lang="en-IN" sz="1600" b="1" dirty="0">
                <a:solidFill>
                  <a:schemeClr val="bg1"/>
                </a:solidFill>
                <a:ea typeface="+mn-lt"/>
                <a:cs typeface="+mn-lt"/>
              </a:rPr>
              <a:t>Roads may be blocked because of floods, landslides, or debris.</a:t>
            </a:r>
          </a:p>
          <a:p>
            <a:pPr>
              <a:buFont typeface="Calibri" panose="020B0604020202020204" pitchFamily="34" charset="0"/>
              <a:buChar char="-"/>
            </a:pPr>
            <a:r>
              <a:rPr lang="en-IN" sz="1600" b="1" dirty="0">
                <a:solidFill>
                  <a:schemeClr val="bg1"/>
                </a:solidFill>
                <a:ea typeface="+mn-lt"/>
                <a:cs typeface="+mn-lt"/>
              </a:rPr>
              <a:t>Delay in rescue operations can increase the risk to victims.</a:t>
            </a:r>
          </a:p>
          <a:p>
            <a:pPr marL="0" indent="0">
              <a:buNone/>
            </a:pPr>
            <a:endParaRPr lang="en-IN" sz="1600" b="1" dirty="0">
              <a:solidFill>
                <a:schemeClr val="bg1"/>
              </a:solidFill>
              <a:ea typeface="+mn-lt"/>
              <a:cs typeface="+mn-lt"/>
            </a:endParaRPr>
          </a:p>
          <a:p>
            <a:pPr marL="0" indent="0">
              <a:buNone/>
            </a:pPr>
            <a:r>
              <a:rPr lang="en-IN" sz="1600" b="1" dirty="0">
                <a:solidFill>
                  <a:schemeClr val="bg1"/>
                </a:solidFill>
                <a:ea typeface="+mn-lt"/>
                <a:cs typeface="+mn-lt"/>
              </a:rPr>
              <a:t>Therefore, we need a fast and safe system to locate survivors, monitor disaster areas, and provide real-time information to rescue teams.</a:t>
            </a:r>
          </a:p>
          <a:p>
            <a:pPr>
              <a:buFont typeface="Calibri" panose="020B0604020202020204" pitchFamily="34" charset="0"/>
              <a:buChar char="-"/>
            </a:pPr>
            <a:endParaRPr lang="en-IN" sz="1600" b="1"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1362619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8BE3-3F9C-D89C-28B8-B0A62258237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F62CDFB-8F88-5D15-7929-F562D95E33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F92C3090-C3C0-ED25-A1B4-B46DBBE8FB7C}"/>
              </a:ext>
            </a:extLst>
          </p:cNvPr>
          <p:cNvSpPr/>
          <p:nvPr/>
        </p:nvSpPr>
        <p:spPr>
          <a:xfrm>
            <a:off x="4573"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75D9368-139B-3CFB-4F9A-6B9F738C419C}"/>
              </a:ext>
            </a:extLst>
          </p:cNvPr>
          <p:cNvSpPr>
            <a:spLocks noGrp="1"/>
          </p:cNvSpPr>
          <p:nvPr>
            <p:ph type="title"/>
          </p:nvPr>
        </p:nvSpPr>
        <p:spPr/>
        <p:txBody>
          <a:bodyPr>
            <a:normAutofit/>
          </a:bodyPr>
          <a:lstStyle/>
          <a:p>
            <a:r>
              <a:rPr lang="en-US" sz="6000" b="1" dirty="0">
                <a:solidFill>
                  <a:schemeClr val="bg1"/>
                </a:solidFill>
                <a:latin typeface="+mn-lt"/>
              </a:rPr>
              <a:t>Empathy: Survivors</a:t>
            </a:r>
          </a:p>
        </p:txBody>
      </p:sp>
      <p:sp>
        <p:nvSpPr>
          <p:cNvPr id="3" name="Content Placeholder 2">
            <a:extLst>
              <a:ext uri="{FF2B5EF4-FFF2-40B4-BE49-F238E27FC236}">
                <a16:creationId xmlns:a16="http://schemas.microsoft.com/office/drawing/2014/main" id="{00696C97-DBA2-DC49-0ADC-2A490923D5D9}"/>
              </a:ext>
            </a:extLst>
          </p:cNvPr>
          <p:cNvSpPr>
            <a:spLocks noGrp="1"/>
          </p:cNvSpPr>
          <p:nvPr>
            <p:ph idx="1"/>
          </p:nvPr>
        </p:nvSpPr>
        <p:spPr>
          <a:xfrm>
            <a:off x="838200" y="1391967"/>
            <a:ext cx="10515600" cy="4667288"/>
          </a:xfrm>
        </p:spPr>
        <p:txBody>
          <a:bodyPr vert="horz" lIns="91440" tIns="45720" rIns="91440" bIns="45720" rtlCol="0" anchor="t">
            <a:normAutofit fontScale="92500" lnSpcReduction="20000"/>
          </a:bodyPr>
          <a:lstStyle/>
          <a:p>
            <a:pPr marL="0" indent="0">
              <a:buNone/>
            </a:pPr>
            <a:r>
              <a:rPr lang="en-IN" sz="2400">
                <a:solidFill>
                  <a:schemeClr val="bg1"/>
                </a:solidFill>
                <a:ea typeface="+mn-lt"/>
                <a:cs typeface="+mn-lt"/>
              </a:rPr>
              <a:t>So basically, We considered the problems faced by both </a:t>
            </a:r>
            <a:r>
              <a:rPr lang="en-IN" sz="2400" b="1" dirty="0">
                <a:solidFill>
                  <a:schemeClr val="bg1"/>
                </a:solidFill>
                <a:ea typeface="+mn-lt"/>
                <a:cs typeface="+mn-lt"/>
              </a:rPr>
              <a:t>disaster victims and rescue teams</a:t>
            </a:r>
            <a:r>
              <a:rPr lang="en-IN" sz="2400" dirty="0">
                <a:solidFill>
                  <a:schemeClr val="bg1"/>
                </a:solidFill>
                <a:ea typeface="+mn-lt"/>
                <a:cs typeface="+mn-lt"/>
              </a:rPr>
              <a:t>.</a:t>
            </a:r>
            <a:endParaRPr lang="en-IN">
              <a:solidFill>
                <a:schemeClr val="bg1"/>
              </a:solidFill>
            </a:endParaRPr>
          </a:p>
          <a:p>
            <a:pPr marL="0" indent="0">
              <a:buNone/>
            </a:pPr>
            <a:r>
              <a:rPr lang="en-IN" sz="2400">
                <a:solidFill>
                  <a:schemeClr val="bg1"/>
                </a:solidFill>
                <a:latin typeface="Aptos"/>
              </a:rPr>
              <a:t>During Disasters, survivors may be trapped in damaged building, isolated by floods, or </a:t>
            </a:r>
            <a:r>
              <a:rPr lang="en-IN" sz="2400" dirty="0">
                <a:solidFill>
                  <a:schemeClr val="bg1"/>
                </a:solidFill>
                <a:latin typeface="Aptos"/>
              </a:rPr>
              <a:t>stranded in areas that are difficult to reach.</a:t>
            </a:r>
          </a:p>
          <a:p>
            <a:pPr marL="0" indent="0">
              <a:buNone/>
            </a:pPr>
            <a:endParaRPr lang="en-IN" sz="2400" dirty="0">
              <a:solidFill>
                <a:schemeClr val="bg1"/>
              </a:solidFill>
              <a:latin typeface="Aptos"/>
            </a:endParaRPr>
          </a:p>
          <a:p>
            <a:pPr marL="0" indent="0">
              <a:buNone/>
            </a:pPr>
            <a:r>
              <a:rPr lang="en-IN" sz="2400" dirty="0">
                <a:solidFill>
                  <a:schemeClr val="bg1"/>
                </a:solidFill>
                <a:latin typeface="Aptos"/>
              </a:rPr>
              <a:t>They mainly need</a:t>
            </a:r>
          </a:p>
          <a:p>
            <a:pPr>
              <a:buFont typeface="Arial"/>
              <a:buChar char="•"/>
            </a:pPr>
            <a:r>
              <a:rPr lang="en-IN" sz="2400" dirty="0">
                <a:solidFill>
                  <a:schemeClr val="bg1"/>
                </a:solidFill>
                <a:ea typeface="+mn-lt"/>
                <a:cs typeface="+mn-lt"/>
              </a:rPr>
              <a:t>Quick detection</a:t>
            </a:r>
            <a:endParaRPr lang="en-IN" dirty="0">
              <a:solidFill>
                <a:schemeClr val="bg1"/>
              </a:solidFill>
            </a:endParaRPr>
          </a:p>
          <a:p>
            <a:pPr>
              <a:buFont typeface="Arial"/>
              <a:buChar char="•"/>
            </a:pPr>
            <a:r>
              <a:rPr lang="en-IN" sz="2400" dirty="0">
                <a:solidFill>
                  <a:schemeClr val="bg1"/>
                </a:solidFill>
                <a:ea typeface="+mn-lt"/>
                <a:cs typeface="+mn-lt"/>
              </a:rPr>
              <a:t>Faster rescue</a:t>
            </a:r>
            <a:endParaRPr lang="en-IN" dirty="0">
              <a:solidFill>
                <a:schemeClr val="bg1"/>
              </a:solidFill>
            </a:endParaRPr>
          </a:p>
          <a:p>
            <a:pPr>
              <a:buFont typeface="Arial"/>
              <a:buChar char="•"/>
            </a:pPr>
            <a:r>
              <a:rPr lang="en-IN" sz="2400" dirty="0">
                <a:solidFill>
                  <a:schemeClr val="bg1"/>
                </a:solidFill>
                <a:ea typeface="+mn-lt"/>
                <a:cs typeface="+mn-lt"/>
              </a:rPr>
              <a:t>Accurate location identification</a:t>
            </a:r>
            <a:endParaRPr lang="en-IN" dirty="0">
              <a:solidFill>
                <a:schemeClr val="bg1"/>
              </a:solidFill>
            </a:endParaRPr>
          </a:p>
          <a:p>
            <a:pPr>
              <a:buFont typeface="Arial"/>
              <a:buChar char="•"/>
            </a:pPr>
            <a:r>
              <a:rPr lang="en-IN" sz="2400" dirty="0">
                <a:solidFill>
                  <a:schemeClr val="bg1"/>
                </a:solidFill>
                <a:ea typeface="+mn-lt"/>
                <a:cs typeface="+mn-lt"/>
              </a:rPr>
              <a:t>Emergency medicines and food</a:t>
            </a:r>
            <a:endParaRPr lang="en-IN" dirty="0">
              <a:solidFill>
                <a:schemeClr val="bg1"/>
              </a:solidFill>
            </a:endParaRPr>
          </a:p>
          <a:p>
            <a:pPr>
              <a:buFont typeface="Arial"/>
              <a:buChar char="•"/>
            </a:pPr>
            <a:r>
              <a:rPr lang="en-IN" sz="2400" dirty="0">
                <a:solidFill>
                  <a:schemeClr val="bg1"/>
                </a:solidFill>
                <a:ea typeface="+mn-lt"/>
                <a:cs typeface="+mn-lt"/>
              </a:rPr>
              <a:t>Continuous support until rescuers arrive</a:t>
            </a:r>
            <a:endParaRPr lang="en-IN" dirty="0">
              <a:solidFill>
                <a:schemeClr val="bg1"/>
              </a:solidFill>
            </a:endParaRPr>
          </a:p>
          <a:p>
            <a:pPr indent="0">
              <a:buNone/>
            </a:pPr>
            <a:endParaRPr lang="en-IN" sz="2400" dirty="0">
              <a:solidFill>
                <a:schemeClr val="bg1"/>
              </a:solidFill>
              <a:ea typeface="+mn-lt"/>
              <a:cs typeface="+mn-lt"/>
            </a:endParaRPr>
          </a:p>
          <a:p>
            <a:pPr indent="0">
              <a:buNone/>
            </a:pPr>
            <a:r>
              <a:rPr lang="en-IN" sz="2400" dirty="0">
                <a:solidFill>
                  <a:schemeClr val="bg1"/>
                </a:solidFill>
                <a:ea typeface="+mn-lt"/>
                <a:cs typeface="+mn-lt"/>
              </a:rPr>
              <a:t>Understanding these needs helps us design a system that focuses on saving lives and reducing rescue delays.</a:t>
            </a:r>
            <a:endParaRPr lang="en-IN" dirty="0">
              <a:solidFill>
                <a:schemeClr val="bg1"/>
              </a:solidFill>
            </a:endParaRPr>
          </a:p>
          <a:p>
            <a:pPr marL="0" indent="0">
              <a:buNone/>
            </a:pPr>
            <a:endParaRPr lang="en-IN" sz="2400" dirty="0">
              <a:solidFill>
                <a:schemeClr val="bg1"/>
              </a:solidFill>
              <a:latin typeface="Aptos"/>
            </a:endParaRPr>
          </a:p>
          <a:p>
            <a:pPr marL="0" indent="0">
              <a:buNone/>
            </a:pPr>
            <a:endParaRPr lang="en-IN" sz="2400" b="1" dirty="0">
              <a:solidFill>
                <a:schemeClr val="bg1"/>
              </a:solidFill>
              <a:latin typeface="Aptos"/>
            </a:endParaRPr>
          </a:p>
          <a:p>
            <a:pPr>
              <a:buFont typeface="Calibri" panose="020B0604020202020204" pitchFamily="34" charset="0"/>
              <a:buChar char="-"/>
            </a:pPr>
            <a:endParaRPr lang="en-IN" sz="2400" b="1"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944062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2ADAB-5615-1FE1-BEB1-AB691513743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8E8252B-0366-C847-9E3E-7FF83317B5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37F44A99-8177-5597-DA34-D5299B55CFBF}"/>
              </a:ext>
            </a:extLst>
          </p:cNvPr>
          <p:cNvSpPr/>
          <p:nvPr/>
        </p:nvSpPr>
        <p:spPr>
          <a:xfrm>
            <a:off x="4573"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E420FCD-AE37-E026-E0CF-7DA5903C620C}"/>
              </a:ext>
            </a:extLst>
          </p:cNvPr>
          <p:cNvSpPr>
            <a:spLocks noGrp="1"/>
          </p:cNvSpPr>
          <p:nvPr>
            <p:ph type="title"/>
          </p:nvPr>
        </p:nvSpPr>
        <p:spPr/>
        <p:txBody>
          <a:bodyPr>
            <a:normAutofit/>
          </a:bodyPr>
          <a:lstStyle/>
          <a:p>
            <a:r>
              <a:rPr lang="en-US" sz="6000" b="1" dirty="0">
                <a:solidFill>
                  <a:schemeClr val="bg1"/>
                </a:solidFill>
                <a:latin typeface="+mn-lt"/>
              </a:rPr>
              <a:t>Empathy: Rescue Teams</a:t>
            </a:r>
          </a:p>
        </p:txBody>
      </p:sp>
      <p:sp>
        <p:nvSpPr>
          <p:cNvPr id="3" name="Content Placeholder 2">
            <a:extLst>
              <a:ext uri="{FF2B5EF4-FFF2-40B4-BE49-F238E27FC236}">
                <a16:creationId xmlns:a16="http://schemas.microsoft.com/office/drawing/2014/main" id="{5021E95E-DF46-881E-DA61-0639ED58813B}"/>
              </a:ext>
            </a:extLst>
          </p:cNvPr>
          <p:cNvSpPr>
            <a:spLocks noGrp="1"/>
          </p:cNvSpPr>
          <p:nvPr>
            <p:ph idx="1"/>
          </p:nvPr>
        </p:nvSpPr>
        <p:spPr>
          <a:xfrm>
            <a:off x="838200" y="1391967"/>
            <a:ext cx="10515600" cy="5460263"/>
          </a:xfrm>
        </p:spPr>
        <p:txBody>
          <a:bodyPr vert="horz" lIns="91440" tIns="45720" rIns="91440" bIns="45720" rtlCol="0" anchor="t">
            <a:normAutofit/>
          </a:bodyPr>
          <a:lstStyle/>
          <a:p>
            <a:pPr marL="0" indent="0">
              <a:buNone/>
            </a:pPr>
            <a:r>
              <a:rPr lang="en-IN" sz="2400" dirty="0">
                <a:solidFill>
                  <a:schemeClr val="bg1"/>
                </a:solidFill>
                <a:ea typeface="+mn-lt"/>
                <a:cs typeface="+mn-lt"/>
              </a:rPr>
              <a:t>Rescue teams often work in unsafe environments where there may be floods, debris, landslides, blocked roads, or poor visibility.</a:t>
            </a:r>
            <a:endParaRPr lang="en-IN" sz="2400" b="1">
              <a:solidFill>
                <a:schemeClr val="bg1"/>
              </a:solidFill>
              <a:latin typeface="Aptos"/>
            </a:endParaRPr>
          </a:p>
          <a:p>
            <a:pPr marL="0" indent="0">
              <a:buNone/>
            </a:pPr>
            <a:endParaRPr lang="en-IN" sz="2400" dirty="0">
              <a:solidFill>
                <a:schemeClr val="bg1"/>
              </a:solidFill>
              <a:ea typeface="+mn-lt"/>
              <a:cs typeface="+mn-lt"/>
            </a:endParaRPr>
          </a:p>
          <a:p>
            <a:pPr marL="0" indent="0">
              <a:buNone/>
            </a:pPr>
            <a:r>
              <a:rPr lang="en-IN" sz="2400" dirty="0">
                <a:solidFill>
                  <a:schemeClr val="bg1"/>
                </a:solidFill>
                <a:ea typeface="+mn-lt"/>
                <a:cs typeface="+mn-lt"/>
              </a:rPr>
              <a:t>They require:</a:t>
            </a:r>
            <a:endParaRPr lang="en-IN" dirty="0">
              <a:solidFill>
                <a:schemeClr val="bg1"/>
              </a:solidFill>
            </a:endParaRPr>
          </a:p>
          <a:p>
            <a:r>
              <a:rPr lang="en-IN" sz="2400" dirty="0">
                <a:solidFill>
                  <a:schemeClr val="bg1"/>
                </a:solidFill>
                <a:ea typeface="+mn-lt"/>
                <a:cs typeface="+mn-lt"/>
              </a:rPr>
              <a:t>Real-time information</a:t>
            </a:r>
            <a:endParaRPr lang="en-IN">
              <a:solidFill>
                <a:schemeClr val="bg1"/>
              </a:solidFill>
            </a:endParaRPr>
          </a:p>
          <a:p>
            <a:r>
              <a:rPr lang="en-IN" sz="2400" dirty="0">
                <a:solidFill>
                  <a:schemeClr val="bg1"/>
                </a:solidFill>
                <a:ea typeface="+mn-lt"/>
                <a:cs typeface="+mn-lt"/>
              </a:rPr>
              <a:t>Accurate survivor locations</a:t>
            </a:r>
            <a:endParaRPr lang="en-IN">
              <a:solidFill>
                <a:schemeClr val="bg1"/>
              </a:solidFill>
            </a:endParaRPr>
          </a:p>
          <a:p>
            <a:r>
              <a:rPr lang="en-IN" sz="2400" dirty="0">
                <a:solidFill>
                  <a:schemeClr val="bg1"/>
                </a:solidFill>
                <a:ea typeface="+mn-lt"/>
                <a:cs typeface="+mn-lt"/>
              </a:rPr>
              <a:t>Safe inspection of dangerous areas</a:t>
            </a:r>
            <a:endParaRPr lang="en-IN">
              <a:solidFill>
                <a:schemeClr val="bg1"/>
              </a:solidFill>
            </a:endParaRPr>
          </a:p>
          <a:p>
            <a:r>
              <a:rPr lang="en-IN" sz="2400" dirty="0">
                <a:solidFill>
                  <a:schemeClr val="bg1"/>
                </a:solidFill>
                <a:ea typeface="+mn-lt"/>
                <a:cs typeface="+mn-lt"/>
              </a:rPr>
              <a:t>Better visibility in darkness</a:t>
            </a:r>
            <a:endParaRPr lang="en-IN">
              <a:solidFill>
                <a:schemeClr val="bg1"/>
              </a:solidFill>
            </a:endParaRPr>
          </a:p>
          <a:p>
            <a:r>
              <a:rPr lang="en-IN" sz="2400" dirty="0">
                <a:solidFill>
                  <a:schemeClr val="bg1"/>
                </a:solidFill>
                <a:ea typeface="+mn-lt"/>
                <a:cs typeface="+mn-lt"/>
              </a:rPr>
              <a:t>Information about blocked or unsafe routes</a:t>
            </a:r>
            <a:endParaRPr lang="en-IN">
              <a:solidFill>
                <a:schemeClr val="bg1"/>
              </a:solidFill>
            </a:endParaRPr>
          </a:p>
          <a:p>
            <a:pPr>
              <a:buFont typeface="Calibri" panose="020B0604020202020204" pitchFamily="34" charset="0"/>
              <a:buChar char="-"/>
            </a:pPr>
            <a:endParaRPr lang="en-IN" sz="2400" b="1"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1347862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ED509-EA85-57A6-6CF7-8FA961AFD1A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836D098-636A-1FE1-E79A-827DAAA4D1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47FE11E-FC61-833E-A370-C10294288504}"/>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B5B27D8-12A0-568D-15DD-7056323F9FB0}"/>
              </a:ext>
            </a:extLst>
          </p:cNvPr>
          <p:cNvSpPr>
            <a:spLocks noGrp="1"/>
          </p:cNvSpPr>
          <p:nvPr>
            <p:ph type="title"/>
          </p:nvPr>
        </p:nvSpPr>
        <p:spPr>
          <a:xfrm>
            <a:off x="838200" y="365125"/>
            <a:ext cx="10515600" cy="1022003"/>
          </a:xfrm>
        </p:spPr>
        <p:txBody>
          <a:bodyPr>
            <a:normAutofit fontScale="90000"/>
          </a:bodyPr>
          <a:lstStyle/>
          <a:p>
            <a:r>
              <a:rPr lang="en-US" sz="6000" b="1">
                <a:solidFill>
                  <a:schemeClr val="bg1"/>
                </a:solidFill>
                <a:latin typeface="+mn-lt"/>
              </a:rPr>
              <a:t>Defining the Problem Statement</a:t>
            </a:r>
            <a:endParaRPr lang="en-US" sz="6000" b="1" dirty="0">
              <a:solidFill>
                <a:schemeClr val="bg1"/>
              </a:solidFill>
              <a:latin typeface="+mn-lt"/>
            </a:endParaRPr>
          </a:p>
        </p:txBody>
      </p:sp>
      <p:sp>
        <p:nvSpPr>
          <p:cNvPr id="3" name="Content Placeholder 2">
            <a:extLst>
              <a:ext uri="{FF2B5EF4-FFF2-40B4-BE49-F238E27FC236}">
                <a16:creationId xmlns:a16="http://schemas.microsoft.com/office/drawing/2014/main" id="{41437C20-9A0C-708B-95AA-F7E40B2F3BC1}"/>
              </a:ext>
            </a:extLst>
          </p:cNvPr>
          <p:cNvSpPr>
            <a:spLocks noGrp="1"/>
          </p:cNvSpPr>
          <p:nvPr>
            <p:ph idx="1"/>
          </p:nvPr>
        </p:nvSpPr>
        <p:spPr>
          <a:xfrm>
            <a:off x="838200" y="1391967"/>
            <a:ext cx="10515600" cy="4605335"/>
          </a:xfrm>
        </p:spPr>
        <p:txBody>
          <a:bodyPr vert="horz" lIns="91440" tIns="45720" rIns="91440" bIns="45720" rtlCol="0" anchor="t">
            <a:normAutofit/>
          </a:bodyPr>
          <a:lstStyle/>
          <a:p>
            <a:pPr>
              <a:buNone/>
            </a:pPr>
            <a:r>
              <a:rPr lang="en-IN" sz="2400" dirty="0">
                <a:solidFill>
                  <a:schemeClr val="bg1"/>
                </a:solidFill>
                <a:ea typeface="+mn-lt"/>
                <a:cs typeface="+mn-lt"/>
              </a:rPr>
              <a:t>After understanding the users' problems, the problem can be clearly defined as:</a:t>
            </a:r>
            <a:endParaRPr lang="en-US" dirty="0">
              <a:solidFill>
                <a:schemeClr val="bg1"/>
              </a:solidFill>
            </a:endParaRPr>
          </a:p>
          <a:p>
            <a:pPr>
              <a:buNone/>
            </a:pPr>
            <a:r>
              <a:rPr lang="en-IN" sz="2400" b="1" dirty="0">
                <a:solidFill>
                  <a:schemeClr val="bg1"/>
                </a:solidFill>
                <a:ea typeface="+mn-lt"/>
                <a:cs typeface="+mn-lt"/>
              </a:rPr>
              <a:t>“How might we develop a drone-based disaster response system that can quickly locate survivors, monitor dangerous and inaccessible areas, provide their accurate location, and send real-time information to rescue teams while reducing risks to human rescuers?”</a:t>
            </a:r>
            <a:endParaRPr lang="en-IN" dirty="0">
              <a:solidFill>
                <a:schemeClr val="bg1"/>
              </a:solidFill>
            </a:endParaRPr>
          </a:p>
          <a:p>
            <a:pPr>
              <a:buNone/>
            </a:pPr>
            <a:endParaRPr lang="en-IN" sz="2400" b="1" dirty="0">
              <a:solidFill>
                <a:schemeClr val="bg1"/>
              </a:solidFill>
              <a:latin typeface="Aptos"/>
            </a:endParaRPr>
          </a:p>
          <a:p>
            <a:pPr>
              <a:buNone/>
            </a:pPr>
            <a:r>
              <a:rPr lang="en-IN" sz="2400" dirty="0">
                <a:solidFill>
                  <a:schemeClr val="bg1"/>
                </a:solidFill>
                <a:ea typeface="+mn-lt"/>
                <a:cs typeface="+mn-lt"/>
              </a:rPr>
              <a:t>The main aim is to reduce the risk to human rescuers and support faster rescue operations.</a:t>
            </a:r>
            <a:endParaRPr lang="en-IN" dirty="0">
              <a:solidFill>
                <a:schemeClr val="bg1"/>
              </a:solidFill>
            </a:endParaRPr>
          </a:p>
          <a:p>
            <a:pPr>
              <a:buNone/>
            </a:pPr>
            <a:endParaRPr lang="en-IN" sz="2400"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4923635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CD293-F7E6-2FC1-49A6-1DE4B636CD4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B6AD064-9BF9-F15B-ECAA-83315158D0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46ECF73-0168-3FEB-A288-4F835E07E398}"/>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C345267-FE84-E11D-841D-A8D7D219D2AD}"/>
              </a:ext>
            </a:extLst>
          </p:cNvPr>
          <p:cNvSpPr>
            <a:spLocks noGrp="1"/>
          </p:cNvSpPr>
          <p:nvPr>
            <p:ph type="title"/>
          </p:nvPr>
        </p:nvSpPr>
        <p:spPr>
          <a:xfrm>
            <a:off x="838200" y="365125"/>
            <a:ext cx="10515600" cy="1022003"/>
          </a:xfrm>
        </p:spPr>
        <p:txBody>
          <a:bodyPr>
            <a:normAutofit fontScale="90000"/>
          </a:bodyPr>
          <a:lstStyle/>
          <a:p>
            <a:r>
              <a:rPr lang="en-US" sz="6000" b="1">
                <a:solidFill>
                  <a:schemeClr val="bg1"/>
                </a:solidFill>
                <a:latin typeface="Aptos"/>
              </a:rPr>
              <a:t>Research</a:t>
            </a:r>
            <a:r>
              <a:rPr lang="en-US" sz="6000" b="1" dirty="0">
                <a:solidFill>
                  <a:schemeClr val="bg1"/>
                </a:solidFill>
                <a:latin typeface="Aptos"/>
              </a:rPr>
              <a:t> and Background Study</a:t>
            </a:r>
            <a:endParaRPr lang="en-US" sz="6000" b="1" dirty="0">
              <a:solidFill>
                <a:schemeClr val="bg1"/>
              </a:solidFill>
              <a:latin typeface="+mn-lt"/>
            </a:endParaRPr>
          </a:p>
        </p:txBody>
      </p:sp>
      <p:sp>
        <p:nvSpPr>
          <p:cNvPr id="3" name="Content Placeholder 2">
            <a:extLst>
              <a:ext uri="{FF2B5EF4-FFF2-40B4-BE49-F238E27FC236}">
                <a16:creationId xmlns:a16="http://schemas.microsoft.com/office/drawing/2014/main" id="{1B3C79D3-9BAD-9D0B-C433-F712BBC1F863}"/>
              </a:ext>
            </a:extLst>
          </p:cNvPr>
          <p:cNvSpPr>
            <a:spLocks noGrp="1"/>
          </p:cNvSpPr>
          <p:nvPr>
            <p:ph idx="1"/>
          </p:nvPr>
        </p:nvSpPr>
        <p:spPr>
          <a:xfrm>
            <a:off x="838200" y="1391967"/>
            <a:ext cx="10515600" cy="4484159"/>
          </a:xfrm>
        </p:spPr>
        <p:txBody>
          <a:bodyPr vert="horz" lIns="91440" tIns="45720" rIns="91440" bIns="45720" rtlCol="0" anchor="t">
            <a:normAutofit fontScale="85000" lnSpcReduction="10000"/>
          </a:bodyPr>
          <a:lstStyle/>
          <a:p>
            <a:pPr>
              <a:buFont typeface="Arial"/>
              <a:buChar char="•"/>
            </a:pPr>
            <a:r>
              <a:rPr lang="en-IN" sz="2400">
                <a:solidFill>
                  <a:schemeClr val="bg1"/>
                </a:solidFill>
                <a:ea typeface="+mn-lt"/>
                <a:cs typeface="+mn-lt"/>
              </a:rPr>
              <a:t>Existing technologies such as unmanned aerial vehicles, thermal cameras, GPS modules, and AI-based image processing can support disaster-response operations.</a:t>
            </a:r>
            <a:endParaRPr lang="en-US">
              <a:solidFill>
                <a:srgbClr val="000000"/>
              </a:solidFill>
              <a:ea typeface="+mn-lt"/>
              <a:cs typeface="+mn-lt"/>
            </a:endParaRPr>
          </a:p>
          <a:p>
            <a:pPr>
              <a:buFont typeface="Arial"/>
              <a:buChar char="•"/>
            </a:pPr>
            <a:r>
              <a:rPr lang="en-IN" sz="2400">
                <a:solidFill>
                  <a:schemeClr val="bg1"/>
                </a:solidFill>
                <a:ea typeface="+mn-lt"/>
                <a:cs typeface="+mn-lt"/>
              </a:rPr>
              <a:t>Thermal imaging: Detects infrared radiation and highlights temperature differences that may indicate human presence.</a:t>
            </a:r>
            <a:endParaRPr lang="en-US">
              <a:solidFill>
                <a:schemeClr val="bg1"/>
              </a:solidFill>
              <a:ea typeface="+mn-lt"/>
              <a:cs typeface="+mn-lt"/>
            </a:endParaRPr>
          </a:p>
          <a:p>
            <a:pPr>
              <a:buFont typeface="Arial"/>
              <a:buChar char="•"/>
            </a:pPr>
            <a:r>
              <a:rPr lang="en-IN" sz="2400">
                <a:solidFill>
                  <a:schemeClr val="bg1"/>
                </a:solidFill>
                <a:ea typeface="+mn-lt"/>
                <a:cs typeface="+mn-lt"/>
              </a:rPr>
              <a:t>GPS/GNSS: Provides geographical coordinates for navigation and location recording.</a:t>
            </a:r>
            <a:endParaRPr lang="en-IN"/>
          </a:p>
          <a:p>
            <a:pPr>
              <a:buFont typeface="Arial"/>
              <a:buChar char="•"/>
            </a:pPr>
            <a:r>
              <a:rPr lang="en-IN" sz="2400">
                <a:solidFill>
                  <a:schemeClr val="bg1"/>
                </a:solidFill>
                <a:ea typeface="+mn-lt"/>
                <a:cs typeface="+mn-lt"/>
              </a:rPr>
              <a:t>RGB camera: Captures visible-light images for visual inspection.</a:t>
            </a:r>
            <a:endParaRPr lang="en-IN">
              <a:solidFill>
                <a:schemeClr val="bg1"/>
              </a:solidFill>
              <a:ea typeface="+mn-lt"/>
              <a:cs typeface="+mn-lt"/>
            </a:endParaRPr>
          </a:p>
          <a:p>
            <a:pPr>
              <a:buFont typeface="Arial"/>
              <a:buChar char="•"/>
            </a:pPr>
            <a:r>
              <a:rPr lang="en-IN" sz="2400">
                <a:solidFill>
                  <a:schemeClr val="bg1"/>
                </a:solidFill>
                <a:ea typeface="+mn-lt"/>
                <a:cs typeface="+mn-lt"/>
              </a:rPr>
              <a:t>AI image processing: Helps identify possible human figures or heat patterns.</a:t>
            </a:r>
            <a:endParaRPr lang="en-IN">
              <a:solidFill>
                <a:schemeClr val="bg1"/>
              </a:solidFill>
              <a:ea typeface="+mn-lt"/>
              <a:cs typeface="+mn-lt"/>
            </a:endParaRPr>
          </a:p>
          <a:p>
            <a:pPr>
              <a:buFont typeface="Arial"/>
              <a:buChar char="•"/>
            </a:pPr>
            <a:r>
              <a:rPr lang="en-IN" sz="2400">
                <a:solidFill>
                  <a:schemeClr val="bg1"/>
                </a:solidFill>
                <a:ea typeface="+mn-lt"/>
                <a:cs typeface="+mn-lt"/>
              </a:rPr>
              <a:t>Wireless communication: Transfers coordinates, images, and system status to rescue teams.</a:t>
            </a:r>
            <a:endParaRPr lang="en-IN"/>
          </a:p>
          <a:p>
            <a:pPr>
              <a:buFont typeface="Arial"/>
              <a:buChar char="•"/>
            </a:pPr>
            <a:r>
              <a:rPr lang="en-IN" sz="2400">
                <a:solidFill>
                  <a:schemeClr val="bg1"/>
                </a:solidFill>
                <a:ea typeface="+mn-lt"/>
                <a:cs typeface="+mn-lt"/>
              </a:rPr>
              <a:t>Combining these technologies may improve search efficiency, but actual performance must be validated through prototype testing.</a:t>
            </a:r>
            <a:endParaRPr lang="en-IN">
              <a:solidFill>
                <a:schemeClr val="bg1"/>
              </a:solidFill>
              <a:ea typeface="+mn-lt"/>
              <a:cs typeface="+mn-lt"/>
            </a:endParaRPr>
          </a:p>
          <a:p>
            <a:pPr>
              <a:buFont typeface="Arial"/>
              <a:buChar char="•"/>
            </a:pPr>
            <a:r>
              <a:rPr lang="en-IN" sz="2400" dirty="0">
                <a:solidFill>
                  <a:schemeClr val="bg1"/>
                </a:solidFill>
                <a:ea typeface="+mn-lt"/>
                <a:cs typeface="+mn-lt"/>
              </a:rPr>
              <a:t>A 2020 Vietnam floods and landslides case study in our project presentation describes the use of DJI Matrice 300 RTK drones with </a:t>
            </a:r>
            <a:r>
              <a:rPr lang="en-IN" sz="2400" dirty="0" err="1">
                <a:solidFill>
                  <a:schemeClr val="bg1"/>
                </a:solidFill>
                <a:ea typeface="+mn-lt"/>
                <a:cs typeface="+mn-lt"/>
              </a:rPr>
              <a:t>Zenmuse</a:t>
            </a:r>
            <a:r>
              <a:rPr lang="en-IN" sz="2400" dirty="0">
                <a:solidFill>
                  <a:schemeClr val="bg1"/>
                </a:solidFill>
                <a:ea typeface="+mn-lt"/>
                <a:cs typeface="+mn-lt"/>
              </a:rPr>
              <a:t> H20T thermal cameras for disaster-area assessment.</a:t>
            </a:r>
            <a:endParaRPr lang="en-IN" dirty="0"/>
          </a:p>
          <a:p>
            <a:pPr>
              <a:buNone/>
            </a:pPr>
            <a:endParaRPr lang="en-IN" sz="2400"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2939240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5680F-DFC8-C8F6-7C0C-7F5E76F04F4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D62DBE7-5A5A-BEE6-4D98-37575E19DA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EF5B2599-4A73-9608-70E4-92CF99EB6C55}"/>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2237C64-ACE6-56D7-481A-B276F0DA902D}"/>
              </a:ext>
            </a:extLst>
          </p:cNvPr>
          <p:cNvSpPr>
            <a:spLocks noGrp="1"/>
          </p:cNvSpPr>
          <p:nvPr>
            <p:ph type="title"/>
          </p:nvPr>
        </p:nvSpPr>
        <p:spPr>
          <a:xfrm>
            <a:off x="838200" y="365125"/>
            <a:ext cx="10515600" cy="1022003"/>
          </a:xfrm>
        </p:spPr>
        <p:txBody>
          <a:bodyPr>
            <a:normAutofit/>
          </a:bodyPr>
          <a:lstStyle/>
          <a:p>
            <a:r>
              <a:rPr lang="en-US" sz="6000" b="1">
                <a:solidFill>
                  <a:schemeClr val="bg1"/>
                </a:solidFill>
                <a:latin typeface="+mn-lt"/>
              </a:rPr>
              <a:t>Market and Industrial Study</a:t>
            </a:r>
            <a:endParaRPr lang="en-US" sz="6000" b="1" dirty="0">
              <a:solidFill>
                <a:schemeClr val="bg1"/>
              </a:solidFill>
              <a:latin typeface="+mn-lt"/>
            </a:endParaRPr>
          </a:p>
        </p:txBody>
      </p:sp>
      <p:sp>
        <p:nvSpPr>
          <p:cNvPr id="3" name="Content Placeholder 2">
            <a:extLst>
              <a:ext uri="{FF2B5EF4-FFF2-40B4-BE49-F238E27FC236}">
                <a16:creationId xmlns:a16="http://schemas.microsoft.com/office/drawing/2014/main" id="{C5B0BD4A-DC7B-BC82-1533-95E94B033F6F}"/>
              </a:ext>
            </a:extLst>
          </p:cNvPr>
          <p:cNvSpPr>
            <a:spLocks noGrp="1"/>
          </p:cNvSpPr>
          <p:nvPr>
            <p:ph idx="1"/>
          </p:nvPr>
        </p:nvSpPr>
        <p:spPr>
          <a:xfrm>
            <a:off x="838200" y="1391967"/>
            <a:ext cx="10515600" cy="4605335"/>
          </a:xfrm>
        </p:spPr>
        <p:txBody>
          <a:bodyPr vert="horz" lIns="91440" tIns="45720" rIns="91440" bIns="45720" rtlCol="0" anchor="t">
            <a:normAutofit fontScale="92500" lnSpcReduction="10000"/>
          </a:bodyPr>
          <a:lstStyle/>
          <a:p>
            <a:pPr>
              <a:buFont typeface="Arial"/>
              <a:buChar char="•"/>
            </a:pPr>
            <a:r>
              <a:rPr lang="en-IN" sz="2400" b="1">
                <a:solidFill>
                  <a:schemeClr val="bg1"/>
                </a:solidFill>
                <a:ea typeface="+mn-lt"/>
                <a:cs typeface="+mn-lt"/>
              </a:rPr>
              <a:t>Industry:</a:t>
            </a:r>
            <a:r>
              <a:rPr lang="en-IN" sz="2400">
                <a:solidFill>
                  <a:schemeClr val="bg1"/>
                </a:solidFill>
                <a:ea typeface="+mn-lt"/>
                <a:cs typeface="+mn-lt"/>
              </a:rPr>
              <a:t> Unmanned Aerial Vehicles (UAVs), thermal imaging, artificial intelligence, and disaster management.</a:t>
            </a:r>
            <a:endParaRPr lang="en-IN"/>
          </a:p>
          <a:p>
            <a:pPr>
              <a:buFont typeface="Arial"/>
              <a:buChar char="•"/>
            </a:pPr>
            <a:r>
              <a:rPr lang="en-IN" sz="2400" b="1">
                <a:solidFill>
                  <a:schemeClr val="bg1"/>
                </a:solidFill>
                <a:ea typeface="+mn-lt"/>
                <a:cs typeface="+mn-lt"/>
              </a:rPr>
              <a:t>Applications:</a:t>
            </a:r>
            <a:r>
              <a:rPr lang="en-IN" sz="2400">
                <a:solidFill>
                  <a:schemeClr val="bg1"/>
                </a:solidFill>
                <a:ea typeface="+mn-lt"/>
                <a:cs typeface="+mn-lt"/>
              </a:rPr>
              <a:t> Flood rescue, earthquake response, landslide assessment, wildfire monitoring, and emergency supply delivery.</a:t>
            </a:r>
            <a:endParaRPr lang="en-IN"/>
          </a:p>
          <a:p>
            <a:pPr>
              <a:buFont typeface="Arial"/>
              <a:buChar char="•"/>
            </a:pPr>
            <a:r>
              <a:rPr lang="en-IN" sz="2400" b="1">
                <a:solidFill>
                  <a:schemeClr val="bg1"/>
                </a:solidFill>
                <a:ea typeface="+mn-lt"/>
                <a:cs typeface="+mn-lt"/>
              </a:rPr>
              <a:t>Potential demand:</a:t>
            </a:r>
            <a:r>
              <a:rPr lang="en-IN" sz="2400">
                <a:solidFill>
                  <a:schemeClr val="bg1"/>
                </a:solidFill>
                <a:ea typeface="+mn-lt"/>
                <a:cs typeface="+mn-lt"/>
              </a:rPr>
              <a:t> Disaster management agencies, fire departments, emergency services, and search-and-rescue organizations.</a:t>
            </a:r>
            <a:endParaRPr lang="en-IN"/>
          </a:p>
          <a:p>
            <a:pPr>
              <a:buFont typeface="Arial"/>
              <a:buChar char="•"/>
            </a:pPr>
            <a:r>
              <a:rPr lang="en-IN" sz="2400" b="1">
                <a:solidFill>
                  <a:schemeClr val="bg1"/>
                </a:solidFill>
                <a:ea typeface="+mn-lt"/>
                <a:cs typeface="+mn-lt"/>
              </a:rPr>
              <a:t>Market opportunity:</a:t>
            </a:r>
            <a:r>
              <a:rPr lang="en-IN" sz="2400">
                <a:solidFill>
                  <a:schemeClr val="bg1"/>
                </a:solidFill>
                <a:ea typeface="+mn-lt"/>
                <a:cs typeface="+mn-lt"/>
              </a:rPr>
              <a:t> Affordable, modular drones that combine survivor detection, location estimation, and real-time communication.</a:t>
            </a:r>
            <a:endParaRPr lang="en-IN"/>
          </a:p>
          <a:p>
            <a:pPr>
              <a:buFont typeface="Arial"/>
              <a:buChar char="•"/>
            </a:pPr>
            <a:endParaRPr lang="en-IN" sz="2400" dirty="0">
              <a:solidFill>
                <a:schemeClr val="bg1"/>
              </a:solidFill>
              <a:latin typeface="Aptos"/>
            </a:endParaRPr>
          </a:p>
          <a:p>
            <a:pPr>
              <a:buFont typeface="Arial"/>
              <a:buChar char="•"/>
            </a:pPr>
            <a:r>
              <a:rPr lang="en-IN">
                <a:solidFill>
                  <a:schemeClr val="bg1"/>
                </a:solidFill>
              </a:rPr>
              <a:t>Research Gap</a:t>
            </a:r>
            <a:endParaRPr lang="en-IN" sz="2400" dirty="0">
              <a:solidFill>
                <a:schemeClr val="bg1"/>
              </a:solidFill>
              <a:latin typeface="Aptos"/>
            </a:endParaRPr>
          </a:p>
          <a:p>
            <a:pPr>
              <a:buFont typeface="Arial"/>
              <a:buChar char="•"/>
            </a:pPr>
            <a:r>
              <a:rPr lang="en-IN" sz="2400">
                <a:solidFill>
                  <a:schemeClr val="bg1"/>
                </a:solidFill>
                <a:ea typeface="+mn-lt"/>
                <a:cs typeface="+mn-lt"/>
              </a:rPr>
              <a:t>Existing drone systems can support aerial monitoring and thermal detection, but challenges remain in affordability, battery life, detection accuracy, weather resistance, and communication reliability</a:t>
            </a:r>
            <a:endParaRPr lang="en-IN"/>
          </a:p>
          <a:p>
            <a:pPr>
              <a:buFont typeface="Arial"/>
              <a:buChar char="•"/>
            </a:pPr>
            <a:endParaRPr lang="en-IN" sz="2400" dirty="0">
              <a:solidFill>
                <a:schemeClr val="bg1"/>
              </a:solidFill>
              <a:latin typeface="Aptos"/>
            </a:endParaRPr>
          </a:p>
          <a:p>
            <a:pPr>
              <a:buNone/>
            </a:pPr>
            <a:endParaRPr lang="en-IN" sz="2400"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3110900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67CDA-DBD3-CC76-503D-4914945DAD1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E8C1692-B299-1B26-451C-41A97DFD51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0B640986-2E82-1F2F-A80F-CC6B696126D7}"/>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5FE4F1C-1DE1-0DEB-0866-E264AEDD8BBB}"/>
              </a:ext>
            </a:extLst>
          </p:cNvPr>
          <p:cNvSpPr>
            <a:spLocks noGrp="1"/>
          </p:cNvSpPr>
          <p:nvPr>
            <p:ph type="title"/>
          </p:nvPr>
        </p:nvSpPr>
        <p:spPr>
          <a:xfrm>
            <a:off x="838200" y="365125"/>
            <a:ext cx="10515600" cy="1022003"/>
          </a:xfrm>
        </p:spPr>
        <p:txBody>
          <a:bodyPr>
            <a:normAutofit/>
          </a:bodyPr>
          <a:lstStyle/>
          <a:p>
            <a:r>
              <a:rPr lang="en-US" sz="6000" b="1">
                <a:solidFill>
                  <a:schemeClr val="bg1"/>
                </a:solidFill>
                <a:latin typeface="+mn-lt"/>
              </a:rPr>
              <a:t>Target Uses and Costumers</a:t>
            </a:r>
            <a:endParaRPr lang="en-US" sz="6000" b="1" dirty="0">
              <a:solidFill>
                <a:schemeClr val="bg1"/>
              </a:solidFill>
              <a:latin typeface="+mn-lt"/>
            </a:endParaRPr>
          </a:p>
        </p:txBody>
      </p:sp>
      <p:sp>
        <p:nvSpPr>
          <p:cNvPr id="3" name="Content Placeholder 2">
            <a:extLst>
              <a:ext uri="{FF2B5EF4-FFF2-40B4-BE49-F238E27FC236}">
                <a16:creationId xmlns:a16="http://schemas.microsoft.com/office/drawing/2014/main" id="{4032F512-9682-8391-3F8D-D54DC4889116}"/>
              </a:ext>
            </a:extLst>
          </p:cNvPr>
          <p:cNvSpPr>
            <a:spLocks noGrp="1"/>
          </p:cNvSpPr>
          <p:nvPr>
            <p:ph idx="1"/>
          </p:nvPr>
        </p:nvSpPr>
        <p:spPr>
          <a:xfrm>
            <a:off x="838200" y="1249479"/>
            <a:ext cx="9428480" cy="5104662"/>
          </a:xfrm>
        </p:spPr>
        <p:txBody>
          <a:bodyPr vert="horz" lIns="91440" tIns="45720" rIns="91440" bIns="45720" rtlCol="0" anchor="t">
            <a:normAutofit fontScale="62500" lnSpcReduction="20000"/>
          </a:bodyPr>
          <a:lstStyle/>
          <a:p>
            <a:pPr>
              <a:buNone/>
            </a:pPr>
            <a:r>
              <a:rPr lang="en-IN">
                <a:solidFill>
                  <a:schemeClr val="bg1"/>
                </a:solidFill>
                <a:ea typeface="+mn-lt"/>
                <a:cs typeface="+mn-lt"/>
              </a:rPr>
              <a:t>The system is intended for organisations that conduct emergency response and disaster assessment.</a:t>
            </a:r>
            <a:endParaRPr lang="en-US">
              <a:solidFill>
                <a:schemeClr val="bg1"/>
              </a:solidFill>
              <a:ea typeface="+mn-lt"/>
              <a:cs typeface="+mn-lt"/>
            </a:endParaRPr>
          </a:p>
          <a:p>
            <a:pPr>
              <a:buNone/>
            </a:pPr>
            <a:r>
              <a:rPr lang="en-IN">
                <a:solidFill>
                  <a:schemeClr val="bg1"/>
                </a:solidFill>
                <a:ea typeface="+mn-lt"/>
                <a:cs typeface="+mn-lt"/>
              </a:rPr>
              <a:t>Primary customers:</a:t>
            </a:r>
            <a:endParaRPr lang="en-IN"/>
          </a:p>
          <a:p>
            <a:pPr>
              <a:buFont typeface="Arial"/>
              <a:buChar char="•"/>
            </a:pPr>
            <a:r>
              <a:rPr lang="en-IN">
                <a:solidFill>
                  <a:schemeClr val="bg1"/>
                </a:solidFill>
                <a:ea typeface="+mn-lt"/>
                <a:cs typeface="+mn-lt"/>
              </a:rPr>
              <a:t>Government disaster-management authorities.</a:t>
            </a:r>
          </a:p>
          <a:p>
            <a:pPr>
              <a:buFont typeface="Arial"/>
              <a:buChar char="•"/>
            </a:pPr>
            <a:r>
              <a:rPr lang="en-IN">
                <a:solidFill>
                  <a:schemeClr val="bg1"/>
                </a:solidFill>
                <a:ea typeface="+mn-lt"/>
                <a:cs typeface="+mn-lt"/>
              </a:rPr>
              <a:t>Fire and rescue departments.</a:t>
            </a:r>
          </a:p>
          <a:p>
            <a:pPr>
              <a:buFont typeface="Arial"/>
              <a:buChar char="•"/>
            </a:pPr>
            <a:r>
              <a:rPr lang="en-IN">
                <a:solidFill>
                  <a:schemeClr val="bg1"/>
                </a:solidFill>
                <a:ea typeface="+mn-lt"/>
                <a:cs typeface="+mn-lt"/>
              </a:rPr>
              <a:t>Search-and-rescue organisations.</a:t>
            </a:r>
          </a:p>
          <a:p>
            <a:pPr>
              <a:buFont typeface="Arial"/>
              <a:buChar char="•"/>
            </a:pPr>
            <a:r>
              <a:rPr lang="en-IN">
                <a:solidFill>
                  <a:schemeClr val="bg1"/>
                </a:solidFill>
                <a:ea typeface="+mn-lt"/>
                <a:cs typeface="+mn-lt"/>
              </a:rPr>
              <a:t>Emergency response agencies.</a:t>
            </a:r>
          </a:p>
          <a:p>
            <a:pPr>
              <a:buFont typeface="Arial"/>
              <a:buChar char="•"/>
            </a:pPr>
            <a:r>
              <a:rPr lang="en-IN">
                <a:solidFill>
                  <a:schemeClr val="bg1"/>
                </a:solidFill>
                <a:ea typeface="+mn-lt"/>
                <a:cs typeface="+mn-lt"/>
              </a:rPr>
              <a:t>Humanitarian and disaster-relief organisations.</a:t>
            </a:r>
          </a:p>
          <a:p>
            <a:pPr indent="0">
              <a:buNone/>
            </a:pPr>
            <a:endParaRPr lang="en-IN" dirty="0">
              <a:solidFill>
                <a:schemeClr val="bg1"/>
              </a:solidFill>
              <a:ea typeface="+mn-lt"/>
              <a:cs typeface="+mn-lt"/>
            </a:endParaRPr>
          </a:p>
          <a:p>
            <a:pPr indent="0">
              <a:buNone/>
            </a:pPr>
            <a:r>
              <a:rPr lang="en-IN">
                <a:solidFill>
                  <a:schemeClr val="bg1"/>
                </a:solidFill>
                <a:ea typeface="+mn-lt"/>
                <a:cs typeface="+mn-lt"/>
              </a:rPr>
              <a:t>Beneficiaries:</a:t>
            </a:r>
            <a:endParaRPr lang="en-IN">
              <a:solidFill>
                <a:schemeClr val="bg1"/>
              </a:solidFill>
            </a:endParaRPr>
          </a:p>
          <a:p>
            <a:pPr>
              <a:buFont typeface="Arial"/>
              <a:buChar char="•"/>
            </a:pPr>
            <a:r>
              <a:rPr lang="en-IN">
                <a:solidFill>
                  <a:schemeClr val="bg1"/>
                </a:solidFill>
                <a:ea typeface="+mn-lt"/>
                <a:cs typeface="+mn-lt"/>
              </a:rPr>
              <a:t>People trapped in disaster-affected areas.</a:t>
            </a:r>
          </a:p>
          <a:p>
            <a:pPr>
              <a:buFont typeface="Arial"/>
              <a:buChar char="•"/>
            </a:pPr>
            <a:r>
              <a:rPr lang="en-IN">
                <a:solidFill>
                  <a:schemeClr val="bg1"/>
                </a:solidFill>
                <a:ea typeface="+mn-lt"/>
                <a:cs typeface="+mn-lt"/>
              </a:rPr>
              <a:t>Remote and isolated communities.</a:t>
            </a:r>
          </a:p>
          <a:p>
            <a:pPr>
              <a:buFont typeface="Arial"/>
              <a:buChar char="•"/>
            </a:pPr>
            <a:r>
              <a:rPr lang="en-IN">
                <a:solidFill>
                  <a:schemeClr val="bg1"/>
                </a:solidFill>
                <a:ea typeface="+mn-lt"/>
                <a:cs typeface="+mn-lt"/>
              </a:rPr>
              <a:t>Emergency medical teams.</a:t>
            </a:r>
          </a:p>
          <a:p>
            <a:pPr>
              <a:buFont typeface="Arial"/>
              <a:buChar char="•"/>
            </a:pPr>
            <a:r>
              <a:rPr lang="en-IN">
                <a:solidFill>
                  <a:schemeClr val="bg1"/>
                </a:solidFill>
                <a:ea typeface="+mn-lt"/>
                <a:cs typeface="+mn-lt"/>
              </a:rPr>
              <a:t>Local authorities and rescue coordinators.</a:t>
            </a:r>
          </a:p>
          <a:p>
            <a:pPr indent="0">
              <a:buNone/>
            </a:pPr>
            <a:r>
              <a:rPr lang="en-IN">
                <a:solidFill>
                  <a:schemeClr val="bg1"/>
                </a:solidFill>
                <a:ea typeface="+mn-lt"/>
                <a:cs typeface="+mn-lt"/>
              </a:rPr>
              <a:t>These users require timely information, reliable location estimates, safe operation, and manageable equipment costs.</a:t>
            </a:r>
          </a:p>
          <a:p>
            <a:pPr>
              <a:buNone/>
            </a:pPr>
            <a:endParaRPr lang="en-IN"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2491123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AEF4C-22B5-E97E-0CC4-2CE04AD0AB6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21FB6A6-6A61-F36D-4B39-1F5440F9D9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C9125E17-A311-A147-69AC-C9A238A52752}"/>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2E36DD9-863B-5738-12E6-40521F9380F7}"/>
              </a:ext>
            </a:extLst>
          </p:cNvPr>
          <p:cNvSpPr>
            <a:spLocks noGrp="1"/>
          </p:cNvSpPr>
          <p:nvPr>
            <p:ph type="title"/>
          </p:nvPr>
        </p:nvSpPr>
        <p:spPr>
          <a:xfrm>
            <a:off x="838200" y="365125"/>
            <a:ext cx="10515600" cy="1022003"/>
          </a:xfrm>
        </p:spPr>
        <p:txBody>
          <a:bodyPr>
            <a:normAutofit/>
          </a:bodyPr>
          <a:lstStyle/>
          <a:p>
            <a:r>
              <a:rPr lang="en-US" sz="6000">
                <a:solidFill>
                  <a:schemeClr val="bg1"/>
                </a:solidFill>
                <a:ea typeface="+mj-lt"/>
                <a:cs typeface="+mj-lt"/>
              </a:rPr>
              <a:t>Competitors and Benchmarks</a:t>
            </a:r>
            <a:endParaRPr lang="en-US"/>
          </a:p>
        </p:txBody>
      </p:sp>
      <p:sp>
        <p:nvSpPr>
          <p:cNvPr id="3" name="Content Placeholder 2">
            <a:extLst>
              <a:ext uri="{FF2B5EF4-FFF2-40B4-BE49-F238E27FC236}">
                <a16:creationId xmlns:a16="http://schemas.microsoft.com/office/drawing/2014/main" id="{814586A1-2D39-0A3C-107B-14ECE8C421BF}"/>
              </a:ext>
            </a:extLst>
          </p:cNvPr>
          <p:cNvSpPr>
            <a:spLocks noGrp="1"/>
          </p:cNvSpPr>
          <p:nvPr>
            <p:ph idx="1"/>
          </p:nvPr>
        </p:nvSpPr>
        <p:spPr>
          <a:xfrm>
            <a:off x="838200" y="1391967"/>
            <a:ext cx="10515600" cy="4605335"/>
          </a:xfrm>
        </p:spPr>
        <p:txBody>
          <a:bodyPr vert="horz" lIns="91440" tIns="45720" rIns="91440" bIns="45720" rtlCol="0" anchor="t">
            <a:normAutofit fontScale="85000" lnSpcReduction="10000"/>
          </a:bodyPr>
          <a:lstStyle/>
          <a:p>
            <a:pPr>
              <a:buFont typeface="Arial"/>
              <a:buChar char="•"/>
            </a:pPr>
            <a:r>
              <a:rPr lang="en-IN">
                <a:solidFill>
                  <a:schemeClr val="bg1"/>
                </a:solidFill>
                <a:ea typeface="+mn-lt"/>
                <a:cs typeface="+mn-lt"/>
              </a:rPr>
              <a:t>Existing technologies provide useful reference points for the proposed project.</a:t>
            </a:r>
            <a:endParaRPr lang="en-IN" sz="2400">
              <a:solidFill>
                <a:schemeClr val="bg1"/>
              </a:solidFill>
              <a:latin typeface="Aptos"/>
            </a:endParaRPr>
          </a:p>
          <a:p>
            <a:pPr>
              <a:buFont typeface="Arial"/>
              <a:buChar char="•"/>
            </a:pPr>
            <a:r>
              <a:rPr lang="en-IN" dirty="0">
                <a:solidFill>
                  <a:schemeClr val="bg1"/>
                </a:solidFill>
                <a:ea typeface="+mn-lt"/>
                <a:cs typeface="+mn-lt"/>
              </a:rPr>
              <a:t>DJI Matrice 300 RTK with </a:t>
            </a:r>
            <a:r>
              <a:rPr lang="en-IN" dirty="0" err="1">
                <a:solidFill>
                  <a:schemeClr val="bg1"/>
                </a:solidFill>
                <a:ea typeface="+mn-lt"/>
                <a:cs typeface="+mn-lt"/>
              </a:rPr>
              <a:t>Zenmuse</a:t>
            </a:r>
            <a:r>
              <a:rPr lang="en-IN" dirty="0">
                <a:solidFill>
                  <a:schemeClr val="bg1"/>
                </a:solidFill>
                <a:ea typeface="+mn-lt"/>
                <a:cs typeface="+mn-lt"/>
              </a:rPr>
              <a:t> H20T: An enterprise drone platform with thermal and visual imaging capabilities.</a:t>
            </a:r>
          </a:p>
          <a:p>
            <a:pPr>
              <a:buFont typeface="Arial"/>
              <a:buChar char="•"/>
            </a:pPr>
            <a:r>
              <a:rPr lang="en-IN">
                <a:solidFill>
                  <a:schemeClr val="bg1"/>
                </a:solidFill>
                <a:ea typeface="+mn-lt"/>
                <a:cs typeface="+mn-lt"/>
              </a:rPr>
              <a:t>Other thermal-imaging drones: Used for aerial inspection, night-time monitoring, and search operations.</a:t>
            </a:r>
          </a:p>
          <a:p>
            <a:pPr>
              <a:buFont typeface="Arial"/>
              <a:buChar char="•"/>
            </a:pPr>
            <a:r>
              <a:rPr lang="en-IN">
                <a:solidFill>
                  <a:schemeClr val="bg1"/>
                </a:solidFill>
                <a:ea typeface="+mn-lt"/>
                <a:cs typeface="+mn-lt"/>
              </a:rPr>
              <a:t>Fixed-wing survey drones: Suitable for covering large geographical areas.</a:t>
            </a:r>
          </a:p>
          <a:p>
            <a:pPr>
              <a:buFont typeface="Arial"/>
              <a:buChar char="•"/>
            </a:pPr>
            <a:r>
              <a:rPr lang="en-IN">
                <a:solidFill>
                  <a:schemeClr val="bg1"/>
                </a:solidFill>
                <a:ea typeface="+mn-lt"/>
                <a:cs typeface="+mn-lt"/>
              </a:rPr>
              <a:t>Ground-based rescue equipment: Useful for specialised inspections and close-range searches.</a:t>
            </a:r>
            <a:endParaRPr lang="en-IN"/>
          </a:p>
          <a:p>
            <a:pPr>
              <a:buFont typeface="Arial"/>
              <a:buChar char="•"/>
            </a:pPr>
            <a:r>
              <a:rPr lang="en-IN">
                <a:solidFill>
                  <a:schemeClr val="bg1"/>
                </a:solidFill>
                <a:ea typeface="+mn-lt"/>
                <a:cs typeface="+mn-lt"/>
              </a:rPr>
              <a:t>The proposed system focuses on combining essential detection and communication functions in a modular design. Performance comparisons should be based on verified specifications and practical testing.</a:t>
            </a:r>
          </a:p>
          <a:p>
            <a:pPr>
              <a:buFont typeface="Arial"/>
              <a:buChar char="•"/>
            </a:pPr>
            <a:endParaRPr lang="en-IN"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16641524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07B39-AEEC-4AFB-EB14-05CE6190A6A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FFB208D-9220-2208-4666-1D80FE1829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727F83AD-7CAE-5928-AAD5-7F44A443748E}"/>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17847C3-4F1E-3AB4-141B-28092A4E91A6}"/>
              </a:ext>
            </a:extLst>
          </p:cNvPr>
          <p:cNvSpPr>
            <a:spLocks noGrp="1"/>
          </p:cNvSpPr>
          <p:nvPr>
            <p:ph type="title"/>
          </p:nvPr>
        </p:nvSpPr>
        <p:spPr>
          <a:xfrm>
            <a:off x="838200" y="365125"/>
            <a:ext cx="10515600" cy="1022003"/>
          </a:xfrm>
        </p:spPr>
        <p:txBody>
          <a:bodyPr>
            <a:normAutofit/>
          </a:bodyPr>
          <a:lstStyle/>
          <a:p>
            <a:r>
              <a:rPr lang="en-US" sz="6000">
                <a:solidFill>
                  <a:schemeClr val="bg1"/>
                </a:solidFill>
              </a:rPr>
              <a:t>Benchmark Parameters</a:t>
            </a:r>
            <a:endParaRPr lang="en-US" sz="6000" dirty="0">
              <a:solidFill>
                <a:schemeClr val="bg1"/>
              </a:solidFill>
            </a:endParaRPr>
          </a:p>
        </p:txBody>
      </p:sp>
      <p:sp>
        <p:nvSpPr>
          <p:cNvPr id="3" name="Content Placeholder 2">
            <a:extLst>
              <a:ext uri="{FF2B5EF4-FFF2-40B4-BE49-F238E27FC236}">
                <a16:creationId xmlns:a16="http://schemas.microsoft.com/office/drawing/2014/main" id="{12DADC77-1F2F-C019-8B89-058024CF6B56}"/>
              </a:ext>
            </a:extLst>
          </p:cNvPr>
          <p:cNvSpPr>
            <a:spLocks noGrp="1"/>
          </p:cNvSpPr>
          <p:nvPr>
            <p:ph idx="1"/>
          </p:nvPr>
        </p:nvSpPr>
        <p:spPr>
          <a:xfrm>
            <a:off x="838200" y="1391967"/>
            <a:ext cx="10515600" cy="4605335"/>
          </a:xfrm>
        </p:spPr>
        <p:txBody>
          <a:bodyPr vert="horz" lIns="91440" tIns="45720" rIns="91440" bIns="45720" rtlCol="0" anchor="t">
            <a:normAutofit lnSpcReduction="10000"/>
          </a:bodyPr>
          <a:lstStyle/>
          <a:p>
            <a:pPr>
              <a:buFont typeface="Arial"/>
              <a:buChar char="•"/>
            </a:pPr>
            <a:r>
              <a:rPr lang="en-IN" sz="2400">
                <a:solidFill>
                  <a:schemeClr val="bg1"/>
                </a:solidFill>
                <a:ea typeface="+mn-lt"/>
                <a:cs typeface="+mn-lt"/>
              </a:rPr>
              <a:t>The proposed drone can be evaluated against existing systems using measurable performance parameters.</a:t>
            </a:r>
          </a:p>
          <a:p>
            <a:pPr>
              <a:buFont typeface="Arial"/>
              <a:buChar char="•"/>
            </a:pPr>
            <a:r>
              <a:rPr lang="en-IN" sz="2400">
                <a:solidFill>
                  <a:schemeClr val="bg1"/>
                </a:solidFill>
                <a:ea typeface="+mn-lt"/>
                <a:cs typeface="+mn-lt"/>
              </a:rPr>
              <a:t>Detection capability: Ability to identify possible survivors under different conditions.</a:t>
            </a:r>
            <a:endParaRPr lang="en-IN">
              <a:solidFill>
                <a:schemeClr val="bg1"/>
              </a:solidFill>
              <a:ea typeface="+mn-lt"/>
              <a:cs typeface="+mn-lt"/>
            </a:endParaRPr>
          </a:p>
          <a:p>
            <a:pPr>
              <a:buFont typeface="Arial"/>
              <a:buChar char="•"/>
            </a:pPr>
            <a:r>
              <a:rPr lang="en-IN" sz="2400">
                <a:solidFill>
                  <a:schemeClr val="bg1"/>
                </a:solidFill>
                <a:ea typeface="+mn-lt"/>
                <a:cs typeface="+mn-lt"/>
              </a:rPr>
              <a:t>Flight time: Duration of operation on a single battery charge.</a:t>
            </a:r>
            <a:endParaRPr lang="en-IN"/>
          </a:p>
          <a:p>
            <a:pPr>
              <a:buFont typeface="Arial"/>
              <a:buChar char="•"/>
            </a:pPr>
            <a:r>
              <a:rPr lang="en-IN" sz="2400">
                <a:solidFill>
                  <a:schemeClr val="bg1"/>
                </a:solidFill>
                <a:ea typeface="+mn-lt"/>
                <a:cs typeface="+mn-lt"/>
              </a:rPr>
              <a:t>Coverage: Area that can be searched during a mission.</a:t>
            </a:r>
            <a:endParaRPr lang="en-IN">
              <a:solidFill>
                <a:schemeClr val="bg1"/>
              </a:solidFill>
              <a:ea typeface="+mn-lt"/>
              <a:cs typeface="+mn-lt"/>
            </a:endParaRPr>
          </a:p>
          <a:p>
            <a:pPr>
              <a:buFont typeface="Arial"/>
              <a:buChar char="•"/>
            </a:pPr>
            <a:r>
              <a:rPr lang="en-IN" sz="2400">
                <a:solidFill>
                  <a:schemeClr val="bg1"/>
                </a:solidFill>
                <a:ea typeface="+mn-lt"/>
                <a:cs typeface="+mn-lt"/>
              </a:rPr>
              <a:t>Location accuracy: Reliability of the estimated survivor coordinates.</a:t>
            </a:r>
            <a:endParaRPr lang="en-IN">
              <a:solidFill>
                <a:schemeClr val="bg1"/>
              </a:solidFill>
              <a:ea typeface="+mn-lt"/>
              <a:cs typeface="+mn-lt"/>
            </a:endParaRPr>
          </a:p>
          <a:p>
            <a:pPr>
              <a:buFont typeface="Arial"/>
              <a:buChar char="•"/>
            </a:pPr>
            <a:r>
              <a:rPr lang="en-IN" sz="2400">
                <a:solidFill>
                  <a:schemeClr val="bg1"/>
                </a:solidFill>
                <a:ea typeface="+mn-lt"/>
                <a:cs typeface="+mn-lt"/>
              </a:rPr>
              <a:t>Communication range: Distance over which useful information can be transmitted.</a:t>
            </a:r>
            <a:endParaRPr lang="en-IN">
              <a:solidFill>
                <a:schemeClr val="bg1"/>
              </a:solidFill>
              <a:ea typeface="+mn-lt"/>
              <a:cs typeface="+mn-lt"/>
            </a:endParaRPr>
          </a:p>
          <a:p>
            <a:pPr>
              <a:buFont typeface="Arial"/>
              <a:buChar char="•"/>
            </a:pPr>
            <a:r>
              <a:rPr lang="en-IN" sz="2400">
                <a:solidFill>
                  <a:schemeClr val="bg1"/>
                </a:solidFill>
                <a:ea typeface="+mn-lt"/>
                <a:cs typeface="+mn-lt"/>
              </a:rPr>
              <a:t>Weather resistance: Ability to operate safely in suitable environmental conditions.</a:t>
            </a:r>
            <a:endParaRPr lang="en-IN">
              <a:solidFill>
                <a:schemeClr val="bg1"/>
              </a:solidFill>
              <a:ea typeface="+mn-lt"/>
              <a:cs typeface="+mn-lt"/>
            </a:endParaRPr>
          </a:p>
          <a:p>
            <a:pPr>
              <a:buFont typeface="Arial"/>
              <a:buChar char="•"/>
            </a:pPr>
            <a:r>
              <a:rPr lang="en-IN" sz="2400">
                <a:solidFill>
                  <a:schemeClr val="bg1"/>
                </a:solidFill>
                <a:ea typeface="+mn-lt"/>
                <a:cs typeface="+mn-lt"/>
              </a:rPr>
              <a:t>Cost: Initial purchase, maintenance, and operating expenses.</a:t>
            </a:r>
            <a:endParaRPr lang="en-IN">
              <a:solidFill>
                <a:schemeClr val="bg1"/>
              </a:solidFill>
              <a:ea typeface="+mn-lt"/>
              <a:cs typeface="+mn-lt"/>
            </a:endParaRPr>
          </a:p>
          <a:p>
            <a:pPr>
              <a:buFont typeface="Arial"/>
              <a:buChar char="•"/>
            </a:pPr>
            <a:endParaRPr lang="en-IN" sz="2400" dirty="0">
              <a:solidFill>
                <a:schemeClr val="bg1"/>
              </a:solidFill>
            </a:endParaRPr>
          </a:p>
          <a:p>
            <a:pPr>
              <a:buFont typeface="Arial"/>
              <a:buChar char="•"/>
            </a:pPr>
            <a:endParaRPr lang="en-IN" sz="2400"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42856253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58B66-3959-B6B0-AB5D-6D02864F3A9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61BAC7A-80A8-2DEE-36FD-C704FADE85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8B1CE5FA-022D-6B57-6DBD-6871899F2156}"/>
              </a:ext>
            </a:extLst>
          </p:cNvPr>
          <p:cNvSpPr/>
          <p:nvPr/>
        </p:nvSpPr>
        <p:spPr>
          <a:xfrm>
            <a:off x="-1622" y="535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91D4064-9468-4D93-0CFB-667F506CB52F}"/>
              </a:ext>
            </a:extLst>
          </p:cNvPr>
          <p:cNvSpPr>
            <a:spLocks noGrp="1"/>
          </p:cNvSpPr>
          <p:nvPr>
            <p:ph type="title"/>
          </p:nvPr>
        </p:nvSpPr>
        <p:spPr>
          <a:xfrm>
            <a:off x="838200" y="365125"/>
            <a:ext cx="10515600" cy="1022003"/>
          </a:xfrm>
        </p:spPr>
        <p:txBody>
          <a:bodyPr>
            <a:normAutofit/>
          </a:bodyPr>
          <a:lstStyle/>
          <a:p>
            <a:pPr marL="228600" indent="-228600">
              <a:spcBef>
                <a:spcPts val="1000"/>
              </a:spcBef>
            </a:pPr>
            <a:r>
              <a:rPr lang="en-IN" sz="4000">
                <a:solidFill>
                  <a:schemeClr val="bg1"/>
                </a:solidFill>
                <a:latin typeface="Aptos"/>
              </a:rPr>
              <a:t>Proposed Competitive Advantage</a:t>
            </a:r>
          </a:p>
        </p:txBody>
      </p:sp>
      <p:sp>
        <p:nvSpPr>
          <p:cNvPr id="3" name="Content Placeholder 2">
            <a:extLst>
              <a:ext uri="{FF2B5EF4-FFF2-40B4-BE49-F238E27FC236}">
                <a16:creationId xmlns:a16="http://schemas.microsoft.com/office/drawing/2014/main" id="{EFC993AB-83A8-9A1B-8B94-B9F3DD2B2618}"/>
              </a:ext>
            </a:extLst>
          </p:cNvPr>
          <p:cNvSpPr>
            <a:spLocks noGrp="1"/>
          </p:cNvSpPr>
          <p:nvPr>
            <p:ph idx="1"/>
          </p:nvPr>
        </p:nvSpPr>
        <p:spPr>
          <a:xfrm>
            <a:off x="838200" y="1391967"/>
            <a:ext cx="10515600" cy="4605335"/>
          </a:xfrm>
        </p:spPr>
        <p:txBody>
          <a:bodyPr vert="horz" lIns="91440" tIns="45720" rIns="91440" bIns="45720" rtlCol="0" anchor="t">
            <a:normAutofit lnSpcReduction="10000"/>
          </a:bodyPr>
          <a:lstStyle/>
          <a:p>
            <a:pPr>
              <a:buFont typeface="Arial"/>
              <a:buChar char="•"/>
            </a:pPr>
            <a:r>
              <a:rPr lang="en-IN" sz="2400">
                <a:solidFill>
                  <a:schemeClr val="bg1"/>
                </a:solidFill>
                <a:ea typeface="+mn-lt"/>
                <a:cs typeface="+mn-lt"/>
              </a:rPr>
              <a:t>The proposed design aims to provide a practical and potentially cost-effective solution for disaster-response applications.</a:t>
            </a:r>
            <a:endParaRPr lang="en-IN">
              <a:solidFill>
                <a:schemeClr val="bg1"/>
              </a:solidFill>
              <a:ea typeface="+mn-lt"/>
              <a:cs typeface="+mn-lt"/>
            </a:endParaRPr>
          </a:p>
          <a:p>
            <a:pPr>
              <a:buFont typeface="Arial"/>
              <a:buChar char="•"/>
            </a:pPr>
            <a:r>
              <a:rPr lang="en-IN" sz="2400">
                <a:solidFill>
                  <a:schemeClr val="bg1"/>
                </a:solidFill>
                <a:ea typeface="+mn-lt"/>
                <a:cs typeface="+mn-lt"/>
              </a:rPr>
              <a:t>Key advantages:</a:t>
            </a:r>
            <a:endParaRPr lang="en-IN"/>
          </a:p>
          <a:p>
            <a:pPr>
              <a:buFont typeface="Arial"/>
              <a:buChar char="•"/>
            </a:pPr>
            <a:r>
              <a:rPr lang="en-IN" sz="2400">
                <a:solidFill>
                  <a:schemeClr val="bg1"/>
                </a:solidFill>
                <a:ea typeface="+mn-lt"/>
                <a:cs typeface="+mn-lt"/>
              </a:rPr>
              <a:t>Integration of thermal imaging and RGB cameras.</a:t>
            </a:r>
            <a:endParaRPr lang="en-IN"/>
          </a:p>
          <a:p>
            <a:pPr>
              <a:buFont typeface="Arial"/>
              <a:buChar char="•"/>
            </a:pPr>
            <a:r>
              <a:rPr lang="en-IN" sz="2400">
                <a:solidFill>
                  <a:schemeClr val="bg1"/>
                </a:solidFill>
                <a:ea typeface="+mn-lt"/>
                <a:cs typeface="+mn-lt"/>
              </a:rPr>
              <a:t>GPS-based location recording.</a:t>
            </a:r>
            <a:endParaRPr lang="en-IN"/>
          </a:p>
          <a:p>
            <a:pPr>
              <a:buFont typeface="Arial"/>
              <a:buChar char="•"/>
            </a:pPr>
            <a:r>
              <a:rPr lang="en-IN" sz="2400">
                <a:solidFill>
                  <a:schemeClr val="bg1"/>
                </a:solidFill>
                <a:ea typeface="+mn-lt"/>
                <a:cs typeface="+mn-lt"/>
              </a:rPr>
              <a:t>AI-assisted identification of possible survivors.</a:t>
            </a:r>
            <a:endParaRPr lang="en-IN"/>
          </a:p>
          <a:p>
            <a:pPr>
              <a:buFont typeface="Arial"/>
              <a:buChar char="•"/>
            </a:pPr>
            <a:r>
              <a:rPr lang="en-IN" sz="2400">
                <a:solidFill>
                  <a:schemeClr val="bg1"/>
                </a:solidFill>
                <a:ea typeface="+mn-lt"/>
                <a:cs typeface="+mn-lt"/>
              </a:rPr>
              <a:t>Real-time transmission of images and coordinates.</a:t>
            </a:r>
            <a:endParaRPr lang="en-IN"/>
          </a:p>
          <a:p>
            <a:pPr>
              <a:buFont typeface="Arial"/>
              <a:buChar char="•"/>
            </a:pPr>
            <a:r>
              <a:rPr lang="en-IN" sz="2400">
                <a:solidFill>
                  <a:schemeClr val="bg1"/>
                </a:solidFill>
                <a:ea typeface="+mn-lt"/>
                <a:cs typeface="+mn-lt"/>
              </a:rPr>
              <a:t>Modular architecture for future upgrades.</a:t>
            </a:r>
            <a:endParaRPr lang="en-IN">
              <a:solidFill>
                <a:schemeClr val="bg1"/>
              </a:solidFill>
              <a:ea typeface="+mn-lt"/>
              <a:cs typeface="+mn-lt"/>
            </a:endParaRPr>
          </a:p>
          <a:p>
            <a:pPr>
              <a:buFont typeface="Arial"/>
              <a:buChar char="•"/>
            </a:pPr>
            <a:r>
              <a:rPr lang="en-IN" sz="2400">
                <a:solidFill>
                  <a:schemeClr val="bg1"/>
                </a:solidFill>
                <a:ea typeface="+mn-lt"/>
                <a:cs typeface="+mn-lt"/>
              </a:rPr>
              <a:t>Potential cost reduction through local sourcing and component selection.</a:t>
            </a:r>
            <a:endParaRPr lang="en-IN">
              <a:solidFill>
                <a:schemeClr val="bg1"/>
              </a:solidFill>
              <a:ea typeface="+mn-lt"/>
              <a:cs typeface="+mn-lt"/>
            </a:endParaRPr>
          </a:p>
          <a:p>
            <a:pPr>
              <a:buFont typeface="Arial"/>
              <a:buChar char="•"/>
            </a:pPr>
            <a:r>
              <a:rPr lang="en-IN" sz="2400">
                <a:solidFill>
                  <a:schemeClr val="bg1"/>
                </a:solidFill>
                <a:ea typeface="+mn-lt"/>
                <a:cs typeface="+mn-lt"/>
              </a:rPr>
              <a:t>The actual competitive advantage will depend on prototype performance, component costs, reliability, and comparison with existing systems.</a:t>
            </a:r>
            <a:endParaRPr lang="en-IN">
              <a:solidFill>
                <a:schemeClr val="bg1"/>
              </a:solidFill>
              <a:ea typeface="+mn-lt"/>
              <a:cs typeface="+mn-lt"/>
            </a:endParaRPr>
          </a:p>
          <a:p>
            <a:pPr>
              <a:buFont typeface="Arial"/>
              <a:buChar char="•"/>
            </a:pPr>
            <a:endParaRPr lang="en-IN" sz="2400"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633804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BEA1E-D4EE-098D-98B6-5F81935636F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0483017-6EBA-CB39-2901-78FC9C5DD9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844AFE2B-B47D-56E9-548B-C5CEE573D054}"/>
              </a:ext>
            </a:extLst>
          </p:cNvPr>
          <p:cNvSpPr/>
          <p:nvPr/>
        </p:nvSpPr>
        <p:spPr>
          <a:xfrm>
            <a:off x="-1622"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078B242-8128-7A2B-7B6F-4F9098240226}"/>
              </a:ext>
            </a:extLst>
          </p:cNvPr>
          <p:cNvSpPr>
            <a:spLocks noGrp="1"/>
          </p:cNvSpPr>
          <p:nvPr>
            <p:ph type="title"/>
          </p:nvPr>
        </p:nvSpPr>
        <p:spPr>
          <a:xfrm>
            <a:off x="838200" y="365125"/>
            <a:ext cx="10515600" cy="1022003"/>
          </a:xfrm>
        </p:spPr>
        <p:txBody>
          <a:bodyPr>
            <a:normAutofit/>
          </a:bodyPr>
          <a:lstStyle/>
          <a:p>
            <a:r>
              <a:rPr lang="en-US" sz="6000" b="1" dirty="0">
                <a:solidFill>
                  <a:schemeClr val="bg1"/>
                </a:solidFill>
                <a:latin typeface="+mn-lt"/>
              </a:rPr>
              <a:t>Idea Generation</a:t>
            </a:r>
          </a:p>
        </p:txBody>
      </p:sp>
      <p:sp>
        <p:nvSpPr>
          <p:cNvPr id="3" name="Content Placeholder 2">
            <a:extLst>
              <a:ext uri="{FF2B5EF4-FFF2-40B4-BE49-F238E27FC236}">
                <a16:creationId xmlns:a16="http://schemas.microsoft.com/office/drawing/2014/main" id="{F9DA415D-D096-296C-9041-247AF9BCE1E5}"/>
              </a:ext>
            </a:extLst>
          </p:cNvPr>
          <p:cNvSpPr>
            <a:spLocks noGrp="1"/>
          </p:cNvSpPr>
          <p:nvPr>
            <p:ph idx="1"/>
          </p:nvPr>
        </p:nvSpPr>
        <p:spPr>
          <a:xfrm>
            <a:off x="838200" y="1391967"/>
            <a:ext cx="10515600" cy="5460263"/>
          </a:xfrm>
        </p:spPr>
        <p:txBody>
          <a:bodyPr vert="horz" lIns="91440" tIns="45720" rIns="91440" bIns="45720" rtlCol="0" anchor="t">
            <a:normAutofit/>
          </a:bodyPr>
          <a:lstStyle/>
          <a:p>
            <a:pPr>
              <a:buFont typeface="Arial"/>
              <a:buChar char="•"/>
            </a:pPr>
            <a:r>
              <a:rPr lang="en-IN" sz="2400">
                <a:solidFill>
                  <a:schemeClr val="bg1"/>
                </a:solidFill>
                <a:ea typeface="+mn-lt"/>
                <a:cs typeface="+mn-lt"/>
              </a:rPr>
              <a:t>Thermal camera for survivor detection.</a:t>
            </a:r>
            <a:endParaRPr lang="en-IN">
              <a:solidFill>
                <a:schemeClr val="bg1"/>
              </a:solidFill>
              <a:ea typeface="+mn-lt"/>
              <a:cs typeface="+mn-lt"/>
            </a:endParaRPr>
          </a:p>
          <a:p>
            <a:pPr>
              <a:buFont typeface="Arial"/>
              <a:buChar char="•"/>
            </a:pPr>
            <a:r>
              <a:rPr lang="en-IN" sz="2400">
                <a:solidFill>
                  <a:schemeClr val="bg1"/>
                </a:solidFill>
                <a:ea typeface="+mn-lt"/>
                <a:cs typeface="+mn-lt"/>
              </a:rPr>
              <a:t>GPS for location tracking.</a:t>
            </a:r>
            <a:endParaRPr lang="en-IN">
              <a:solidFill>
                <a:schemeClr val="bg1"/>
              </a:solidFill>
              <a:ea typeface="+mn-lt"/>
              <a:cs typeface="+mn-lt"/>
            </a:endParaRPr>
          </a:p>
          <a:p>
            <a:pPr>
              <a:buFont typeface="Arial"/>
            </a:pPr>
            <a:r>
              <a:rPr lang="en-IN" sz="2400">
                <a:solidFill>
                  <a:schemeClr val="bg1"/>
                </a:solidFill>
                <a:ea typeface="+mn-lt"/>
                <a:cs typeface="+mn-lt"/>
              </a:rPr>
              <a:t>AI for identifying survivors.</a:t>
            </a:r>
            <a:endParaRPr lang="en-IN">
              <a:solidFill>
                <a:schemeClr val="bg1"/>
              </a:solidFill>
              <a:ea typeface="+mn-lt"/>
              <a:cs typeface="+mn-lt"/>
            </a:endParaRPr>
          </a:p>
          <a:p>
            <a:pPr>
              <a:buFont typeface="Arial"/>
            </a:pPr>
            <a:r>
              <a:rPr lang="en-IN" sz="2400">
                <a:solidFill>
                  <a:schemeClr val="bg1"/>
                </a:solidFill>
                <a:ea typeface="+mn-lt"/>
                <a:cs typeface="+mn-lt"/>
              </a:rPr>
              <a:t>Real-time communication with rescue teams.</a:t>
            </a:r>
            <a:endParaRPr lang="en-IN">
              <a:solidFill>
                <a:schemeClr val="bg1"/>
              </a:solidFill>
              <a:ea typeface="+mn-lt"/>
              <a:cs typeface="+mn-lt"/>
            </a:endParaRPr>
          </a:p>
          <a:p>
            <a:pPr>
              <a:buFont typeface="Arial"/>
            </a:pPr>
            <a:r>
              <a:rPr lang="en-IN" sz="2400">
                <a:solidFill>
                  <a:schemeClr val="bg1"/>
                </a:solidFill>
                <a:ea typeface="+mn-lt"/>
                <a:cs typeface="+mn-lt"/>
              </a:rPr>
              <a:t>Automated flight control for efficient searching.</a:t>
            </a:r>
            <a:endParaRPr lang="en-IN">
              <a:solidFill>
                <a:schemeClr val="bg1"/>
              </a:solidFill>
              <a:ea typeface="+mn-lt"/>
              <a:cs typeface="+mn-lt"/>
            </a:endParaRPr>
          </a:p>
          <a:p>
            <a:pPr>
              <a:buFont typeface="Arial"/>
            </a:pPr>
            <a:r>
              <a:rPr lang="en-IN" sz="2400">
                <a:solidFill>
                  <a:schemeClr val="bg1"/>
                </a:solidFill>
                <a:ea typeface="+mn-lt"/>
                <a:cs typeface="+mn-lt"/>
              </a:rPr>
              <a:t>Camera for visual monitoring.</a:t>
            </a:r>
            <a:endParaRPr lang="en-IN">
              <a:solidFill>
                <a:schemeClr val="bg1"/>
              </a:solidFill>
              <a:ea typeface="+mn-lt"/>
              <a:cs typeface="+mn-lt"/>
            </a:endParaRPr>
          </a:p>
          <a:p>
            <a:pPr>
              <a:buNone/>
            </a:pPr>
            <a:endParaRPr lang="en-IN" sz="2400"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2145514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C1B61-F3E8-F806-04AB-3D06A5F66D6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BFA7B0B-DEE1-6D8D-E45E-866D963F1A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A85AE561-636A-B101-EEE7-911CA9EF0D44}"/>
              </a:ext>
            </a:extLst>
          </p:cNvPr>
          <p:cNvSpPr/>
          <p:nvPr/>
        </p:nvSpPr>
        <p:spPr>
          <a:xfrm>
            <a:off x="-1622"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E8DA332-DF5D-7F5B-C46C-CE471BEF98E1}"/>
              </a:ext>
            </a:extLst>
          </p:cNvPr>
          <p:cNvSpPr>
            <a:spLocks noGrp="1"/>
          </p:cNvSpPr>
          <p:nvPr>
            <p:ph type="title"/>
          </p:nvPr>
        </p:nvSpPr>
        <p:spPr>
          <a:xfrm>
            <a:off x="838200" y="365125"/>
            <a:ext cx="10515600" cy="1022003"/>
          </a:xfrm>
        </p:spPr>
        <p:txBody>
          <a:bodyPr>
            <a:normAutofit/>
          </a:bodyPr>
          <a:lstStyle/>
          <a:p>
            <a:r>
              <a:rPr lang="en-US" sz="6000" b="1" dirty="0" err="1">
                <a:solidFill>
                  <a:schemeClr val="bg1"/>
                </a:solidFill>
                <a:latin typeface="+mn-lt"/>
              </a:rPr>
              <a:t>Multivoting</a:t>
            </a:r>
          </a:p>
        </p:txBody>
      </p:sp>
      <p:sp>
        <p:nvSpPr>
          <p:cNvPr id="3" name="Content Placeholder 2">
            <a:extLst>
              <a:ext uri="{FF2B5EF4-FFF2-40B4-BE49-F238E27FC236}">
                <a16:creationId xmlns:a16="http://schemas.microsoft.com/office/drawing/2014/main" id="{4A7E5FFA-6B44-E41B-C1BF-EE7FD22E1FDE}"/>
              </a:ext>
            </a:extLst>
          </p:cNvPr>
          <p:cNvSpPr>
            <a:spLocks noGrp="1"/>
          </p:cNvSpPr>
          <p:nvPr>
            <p:ph idx="1"/>
          </p:nvPr>
        </p:nvSpPr>
        <p:spPr>
          <a:xfrm>
            <a:off x="838200" y="1391967"/>
            <a:ext cx="10515600" cy="4320361"/>
          </a:xfrm>
        </p:spPr>
        <p:txBody>
          <a:bodyPr vert="horz" lIns="91440" tIns="45720" rIns="91440" bIns="45720" rtlCol="0" anchor="t">
            <a:normAutofit fontScale="92500" lnSpcReduction="20000"/>
          </a:bodyPr>
          <a:lstStyle/>
          <a:p>
            <a:pPr>
              <a:buFont typeface="Arial"/>
              <a:buChar char="•"/>
            </a:pPr>
            <a:r>
              <a:rPr lang="en-IN" sz="2400">
                <a:solidFill>
                  <a:schemeClr val="bg1"/>
                </a:solidFill>
                <a:ea typeface="+mn-lt"/>
                <a:cs typeface="+mn-lt"/>
              </a:rPr>
              <a:t>Our team evaluated ideas based on safety, cost, feasibility, and rescue effectiveness.</a:t>
            </a:r>
            <a:endParaRPr lang="en-IN" sz="2400" dirty="0">
              <a:solidFill>
                <a:schemeClr val="bg1"/>
              </a:solidFill>
              <a:latin typeface="Aptos"/>
            </a:endParaRPr>
          </a:p>
          <a:p>
            <a:pPr marL="0" indent="0">
              <a:buNone/>
            </a:pPr>
            <a:endParaRPr lang="en-IN" sz="2400" dirty="0">
              <a:solidFill>
                <a:schemeClr val="bg1"/>
              </a:solidFill>
              <a:ea typeface="+mn-lt"/>
              <a:cs typeface="+mn-lt"/>
            </a:endParaRPr>
          </a:p>
          <a:p>
            <a:pPr marL="0" indent="0">
              <a:buFont typeface="Arial"/>
              <a:buNone/>
            </a:pPr>
            <a:r>
              <a:rPr lang="en-IN" sz="2400">
                <a:solidFill>
                  <a:schemeClr val="bg1"/>
                </a:solidFill>
                <a:ea typeface="+mn-lt"/>
                <a:cs typeface="+mn-lt"/>
              </a:rPr>
              <a:t>Selected Ideas:</a:t>
            </a:r>
            <a:endParaRPr lang="en-IN">
              <a:solidFill>
                <a:schemeClr val="bg1"/>
              </a:solidFill>
            </a:endParaRPr>
          </a:p>
          <a:p>
            <a:pPr>
              <a:buFont typeface="Arial"/>
              <a:buChar char="•"/>
            </a:pPr>
            <a:r>
              <a:rPr lang="en-IN" sz="2400">
                <a:solidFill>
                  <a:schemeClr val="bg1"/>
                </a:solidFill>
                <a:ea typeface="+mn-lt"/>
                <a:cs typeface="+mn-lt"/>
              </a:rPr>
              <a:t>Thermal survivor detection</a:t>
            </a:r>
            <a:endParaRPr lang="en-IN"/>
          </a:p>
          <a:p>
            <a:pPr>
              <a:buFont typeface="Arial"/>
              <a:buChar char="•"/>
            </a:pPr>
            <a:r>
              <a:rPr lang="en-IN" sz="2400">
                <a:solidFill>
                  <a:schemeClr val="bg1"/>
                </a:solidFill>
                <a:ea typeface="+mn-lt"/>
                <a:cs typeface="+mn-lt"/>
              </a:rPr>
              <a:t>GPS location tracking</a:t>
            </a:r>
            <a:endParaRPr lang="en-IN"/>
          </a:p>
          <a:p>
            <a:pPr>
              <a:buFont typeface="Arial"/>
              <a:buChar char="•"/>
            </a:pPr>
            <a:r>
              <a:rPr lang="en-IN" sz="2400">
                <a:solidFill>
                  <a:schemeClr val="bg1"/>
                </a:solidFill>
                <a:ea typeface="+mn-lt"/>
                <a:cs typeface="+mn-lt"/>
              </a:rPr>
              <a:t>High-resolution camera</a:t>
            </a:r>
            <a:endParaRPr lang="en-IN"/>
          </a:p>
          <a:p>
            <a:pPr>
              <a:buFont typeface="Arial"/>
              <a:buChar char="•"/>
            </a:pPr>
            <a:r>
              <a:rPr lang="en-IN" sz="2400">
                <a:solidFill>
                  <a:schemeClr val="bg1"/>
                </a:solidFill>
                <a:ea typeface="+mn-lt"/>
                <a:cs typeface="+mn-lt"/>
              </a:rPr>
              <a:t>Real-time communication</a:t>
            </a:r>
            <a:endParaRPr lang="en-IN"/>
          </a:p>
          <a:p>
            <a:pPr>
              <a:buFont typeface="Arial"/>
              <a:buChar char="•"/>
            </a:pPr>
            <a:r>
              <a:rPr lang="en-IN" sz="2400">
                <a:solidFill>
                  <a:schemeClr val="bg1"/>
                </a:solidFill>
                <a:ea typeface="+mn-lt"/>
                <a:cs typeface="+mn-lt"/>
              </a:rPr>
              <a:t>Automated flight control</a:t>
            </a:r>
            <a:endParaRPr lang="en-IN"/>
          </a:p>
          <a:p>
            <a:pPr marL="0" indent="0">
              <a:buNone/>
            </a:pPr>
            <a:endParaRPr lang="en-IN" sz="2400" dirty="0">
              <a:solidFill>
                <a:schemeClr val="bg1"/>
              </a:solidFill>
              <a:latin typeface="Aptos"/>
            </a:endParaRPr>
          </a:p>
          <a:p>
            <a:pPr>
              <a:buNone/>
            </a:pPr>
            <a:r>
              <a:rPr lang="en-IN" sz="2400" dirty="0">
                <a:solidFill>
                  <a:schemeClr val="bg1"/>
                </a:solidFill>
                <a:latin typeface="Aptos"/>
              </a:rPr>
              <a:t>These features were highly selected because they directly support </a:t>
            </a:r>
            <a:r>
              <a:rPr lang="en-IN" sz="2400">
                <a:solidFill>
                  <a:schemeClr val="bg1"/>
                </a:solidFill>
                <a:latin typeface="Aptos"/>
              </a:rPr>
              <a:t>survivor detection</a:t>
            </a:r>
            <a:r>
              <a:rPr lang="en-IN" sz="2400" dirty="0">
                <a:solidFill>
                  <a:schemeClr val="bg1"/>
                </a:solidFill>
                <a:latin typeface="Aptos"/>
              </a:rPr>
              <a:t> and faster rescue response.</a:t>
            </a:r>
            <a:endParaRPr lang="en-US" sz="2400" dirty="0">
              <a:solidFill>
                <a:schemeClr val="bg1"/>
              </a:solidFill>
              <a:latin typeface="Aptos"/>
            </a:endParaRPr>
          </a:p>
          <a:p>
            <a:pPr>
              <a:buNone/>
            </a:pPr>
            <a:endParaRPr lang="en-IN" sz="2400" dirty="0">
              <a:solidFill>
                <a:srgbClr val="000000"/>
              </a:solidFill>
              <a:latin typeface="Aptos"/>
            </a:endParaRPr>
          </a:p>
          <a:p>
            <a:pPr marL="0" indent="0">
              <a:buFont typeface="Arial"/>
              <a:buNone/>
            </a:pPr>
            <a:endParaRPr lang="en-IN" sz="2400" dirty="0">
              <a:solidFill>
                <a:schemeClr val="bg1"/>
              </a:solidFill>
              <a:latin typeface="Aptos"/>
            </a:endParaRPr>
          </a:p>
          <a:p>
            <a:pPr>
              <a:buFont typeface="Arial"/>
              <a:buChar char="•"/>
            </a:pPr>
            <a:endParaRPr lang="en-IN" sz="2400"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23219450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E2D78-B169-28B4-A12B-5C2FD3BB0F1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7FC510D-7D2F-9026-1B73-C314CAFDBA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F68B4972-33A8-8489-CAE0-7EA9CB1C1944}"/>
              </a:ext>
            </a:extLst>
          </p:cNvPr>
          <p:cNvSpPr/>
          <p:nvPr/>
        </p:nvSpPr>
        <p:spPr>
          <a:xfrm>
            <a:off x="-1622"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9E1E0C7-A3CF-B61D-3D88-773D57AB00F4}"/>
              </a:ext>
            </a:extLst>
          </p:cNvPr>
          <p:cNvSpPr>
            <a:spLocks noGrp="1"/>
          </p:cNvSpPr>
          <p:nvPr>
            <p:ph type="title"/>
          </p:nvPr>
        </p:nvSpPr>
        <p:spPr>
          <a:xfrm>
            <a:off x="838200" y="365125"/>
            <a:ext cx="10515600" cy="1326803"/>
          </a:xfrm>
        </p:spPr>
        <p:txBody>
          <a:bodyPr>
            <a:normAutofit fontScale="90000"/>
          </a:bodyPr>
          <a:lstStyle/>
          <a:p>
            <a:r>
              <a:rPr lang="en-US" sz="6000" b="1" dirty="0">
                <a:solidFill>
                  <a:schemeClr val="bg1"/>
                </a:solidFill>
                <a:latin typeface="+mn-lt"/>
              </a:rPr>
              <a:t>Proposed Drone Concept, </a:t>
            </a:r>
            <a:r>
              <a:rPr lang="en-US" sz="6000" b="1" dirty="0" err="1">
                <a:solidFill>
                  <a:schemeClr val="bg1"/>
                </a:solidFill>
                <a:latin typeface="+mn-lt"/>
              </a:rPr>
              <a:t>Idea,Prototype,Solution</a:t>
            </a:r>
          </a:p>
        </p:txBody>
      </p:sp>
      <p:sp>
        <p:nvSpPr>
          <p:cNvPr id="3" name="Content Placeholder 2">
            <a:extLst>
              <a:ext uri="{FF2B5EF4-FFF2-40B4-BE49-F238E27FC236}">
                <a16:creationId xmlns:a16="http://schemas.microsoft.com/office/drawing/2014/main" id="{0D28E779-0431-1D6D-C6E3-AAB4E497DBDF}"/>
              </a:ext>
            </a:extLst>
          </p:cNvPr>
          <p:cNvSpPr>
            <a:spLocks noGrp="1"/>
          </p:cNvSpPr>
          <p:nvPr>
            <p:ph idx="1"/>
          </p:nvPr>
        </p:nvSpPr>
        <p:spPr>
          <a:xfrm>
            <a:off x="838200" y="1391967"/>
            <a:ext cx="10515600" cy="5460263"/>
          </a:xfrm>
        </p:spPr>
        <p:txBody>
          <a:bodyPr vert="horz" lIns="91440" tIns="45720" rIns="91440" bIns="45720" rtlCol="0" anchor="t">
            <a:normAutofit/>
          </a:bodyPr>
          <a:lstStyle/>
          <a:p>
            <a:pPr marL="0" indent="0">
              <a:buNone/>
            </a:pPr>
            <a:endParaRPr lang="en-IN" sz="2400" dirty="0">
              <a:solidFill>
                <a:schemeClr val="bg1"/>
              </a:solidFill>
              <a:latin typeface="Aptos"/>
            </a:endParaRPr>
          </a:p>
          <a:p>
            <a:pPr>
              <a:buFont typeface="Arial"/>
              <a:buChar char="•"/>
            </a:pPr>
            <a:r>
              <a:rPr lang="en-IN" sz="2400">
                <a:solidFill>
                  <a:schemeClr val="bg1"/>
                </a:solidFill>
                <a:ea typeface="+mn-lt"/>
                <a:cs typeface="+mn-lt"/>
              </a:rPr>
              <a:t>Concept: Use a drone to assist survivor detection in disaster-affected areas.</a:t>
            </a:r>
            <a:endParaRPr lang="en-IN"/>
          </a:p>
          <a:p>
            <a:pPr>
              <a:buFont typeface="Arial"/>
              <a:buChar char="•"/>
            </a:pPr>
            <a:r>
              <a:rPr lang="en-IN" sz="2400">
                <a:solidFill>
                  <a:schemeClr val="bg1"/>
                </a:solidFill>
                <a:ea typeface="+mn-lt"/>
                <a:cs typeface="+mn-lt"/>
              </a:rPr>
              <a:t>Idea: Combine thermal sensing, a camera, GPS, and wireless communication.</a:t>
            </a:r>
            <a:endParaRPr lang="en-IN"/>
          </a:p>
          <a:p>
            <a:pPr>
              <a:buFont typeface="Arial"/>
              <a:buChar char="•"/>
            </a:pPr>
            <a:r>
              <a:rPr lang="en-IN" sz="2400">
                <a:solidFill>
                  <a:schemeClr val="bg1"/>
                </a:solidFill>
                <a:ea typeface="+mn-lt"/>
                <a:cs typeface="+mn-lt"/>
              </a:rPr>
              <a:t>Prototype: Build a basic system to demonstrate the detection and location-reporting process.</a:t>
            </a:r>
            <a:endParaRPr lang="en-IN"/>
          </a:p>
          <a:p>
            <a:pPr>
              <a:buFont typeface="Arial"/>
              <a:buChar char="•"/>
            </a:pPr>
            <a:r>
              <a:rPr lang="en-IN" sz="2400">
                <a:solidFill>
                  <a:schemeClr val="bg1"/>
                </a:solidFill>
                <a:ea typeface="+mn-lt"/>
                <a:cs typeface="+mn-lt"/>
              </a:rPr>
              <a:t>Product: Develop a reliable, tested, and user-friendly system.</a:t>
            </a:r>
            <a:endParaRPr lang="en-IN"/>
          </a:p>
          <a:p>
            <a:pPr>
              <a:buFont typeface="Arial"/>
              <a:buChar char="•"/>
            </a:pPr>
            <a:r>
              <a:rPr lang="en-IN" sz="2400">
                <a:solidFill>
                  <a:schemeClr val="bg1"/>
                </a:solidFill>
                <a:ea typeface="+mn-lt"/>
                <a:cs typeface="+mn-lt"/>
              </a:rPr>
              <a:t>Solution: Provide rescue teams with useful aerial information to support faster and safer decision-making.</a:t>
            </a:r>
            <a:endParaRPr lang="en-IN"/>
          </a:p>
          <a:p>
            <a:pPr>
              <a:buFont typeface="Arial"/>
              <a:buChar char="•"/>
            </a:pPr>
            <a:r>
              <a:rPr lang="en-IN" sz="2400">
                <a:solidFill>
                  <a:schemeClr val="bg1"/>
                </a:solidFill>
                <a:ea typeface="+mn-lt"/>
                <a:cs typeface="+mn-lt"/>
              </a:rPr>
              <a:t>The current concept is a proposed design; further development and validation are needed before operational use.</a:t>
            </a:r>
            <a:endParaRPr lang="en-IN"/>
          </a:p>
          <a:p>
            <a:pPr>
              <a:buFont typeface="Arial"/>
              <a:buChar char="•"/>
            </a:pPr>
            <a:endParaRPr lang="en-IN" sz="2400"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662464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83499-EB8F-940C-9DC2-1322EB539B8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C4E7F39-9550-6EFD-4F0E-7313F2C5B4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C81A85BE-4412-E6C6-5461-E9369D5D3A56}"/>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983151C-F8D0-0FF3-8A4F-C758F79B1B3B}"/>
              </a:ext>
            </a:extLst>
          </p:cNvPr>
          <p:cNvSpPr>
            <a:spLocks noGrp="1"/>
          </p:cNvSpPr>
          <p:nvPr>
            <p:ph type="title"/>
          </p:nvPr>
        </p:nvSpPr>
        <p:spPr>
          <a:xfrm>
            <a:off x="838200" y="365125"/>
            <a:ext cx="10515600" cy="1022003"/>
          </a:xfrm>
        </p:spPr>
        <p:txBody>
          <a:bodyPr>
            <a:normAutofit/>
          </a:bodyPr>
          <a:lstStyle/>
          <a:p>
            <a:r>
              <a:rPr lang="en-US" sz="6000">
                <a:solidFill>
                  <a:schemeClr val="bg1"/>
                </a:solidFill>
              </a:rPr>
              <a:t>System Architecture</a:t>
            </a:r>
            <a:endParaRPr lang="en-US" sz="6000" dirty="0">
              <a:solidFill>
                <a:schemeClr val="bg1"/>
              </a:solidFill>
            </a:endParaRPr>
          </a:p>
        </p:txBody>
      </p:sp>
      <p:sp>
        <p:nvSpPr>
          <p:cNvPr id="3" name="Content Placeholder 2">
            <a:extLst>
              <a:ext uri="{FF2B5EF4-FFF2-40B4-BE49-F238E27FC236}">
                <a16:creationId xmlns:a16="http://schemas.microsoft.com/office/drawing/2014/main" id="{DDF2EDBA-3CD0-E5FB-C2FA-D50D9099882A}"/>
              </a:ext>
            </a:extLst>
          </p:cNvPr>
          <p:cNvSpPr>
            <a:spLocks noGrp="1"/>
          </p:cNvSpPr>
          <p:nvPr>
            <p:ph idx="1"/>
          </p:nvPr>
        </p:nvSpPr>
        <p:spPr>
          <a:xfrm>
            <a:off x="480291" y="1386194"/>
            <a:ext cx="8448964" cy="4605335"/>
          </a:xfrm>
        </p:spPr>
        <p:txBody>
          <a:bodyPr vert="horz" lIns="91440" tIns="45720" rIns="91440" bIns="45720" rtlCol="0" anchor="t">
            <a:normAutofit/>
          </a:bodyPr>
          <a:lstStyle/>
          <a:p>
            <a:pPr>
              <a:lnSpc>
                <a:spcPct val="120000"/>
              </a:lnSpc>
              <a:buFont typeface="Arial"/>
              <a:buChar char="•"/>
            </a:pPr>
            <a:r>
              <a:rPr lang="en-US" sz="1700" dirty="0">
                <a:solidFill>
                  <a:schemeClr val="bg1"/>
                </a:solidFill>
                <a:latin typeface="Times New Roman"/>
                <a:cs typeface="Times New Roman"/>
              </a:rPr>
              <a:t>The system architecture shows how the drone collects and </a:t>
            </a:r>
            <a:r>
              <a:rPr lang="en-US" sz="1700" dirty="0" err="1">
                <a:solidFill>
                  <a:schemeClr val="bg1"/>
                </a:solidFill>
                <a:latin typeface="Times New Roman"/>
                <a:cs typeface="Times New Roman"/>
              </a:rPr>
              <a:t>sendsinformation</a:t>
            </a:r>
            <a:r>
              <a:rPr lang="en-US" sz="1700" dirty="0">
                <a:solidFill>
                  <a:schemeClr val="bg1"/>
                </a:solidFill>
                <a:latin typeface="Times New Roman"/>
                <a:cs typeface="Times New Roman"/>
              </a:rPr>
              <a:t> to the rescue team.</a:t>
            </a:r>
          </a:p>
          <a:p>
            <a:pPr>
              <a:lnSpc>
                <a:spcPct val="120000"/>
              </a:lnSpc>
              <a:buFont typeface="Arial"/>
              <a:buChar char="•"/>
            </a:pPr>
            <a:r>
              <a:rPr lang="en-US" sz="1700" b="1">
                <a:solidFill>
                  <a:schemeClr val="bg1"/>
                </a:solidFill>
                <a:latin typeface="Times New Roman"/>
                <a:cs typeface="Times New Roman"/>
              </a:rPr>
              <a:t>Basic Flow:</a:t>
            </a:r>
            <a:endParaRPr lang="en-US" sz="1700" dirty="0">
              <a:solidFill>
                <a:schemeClr val="bg1"/>
              </a:solidFill>
              <a:latin typeface="Times New Roman"/>
              <a:cs typeface="Times New Roman"/>
            </a:endParaRPr>
          </a:p>
          <a:p>
            <a:pPr>
              <a:lnSpc>
                <a:spcPct val="120000"/>
              </a:lnSpc>
              <a:buFont typeface="Arial"/>
              <a:buChar char="•"/>
            </a:pPr>
            <a:r>
              <a:rPr lang="en-US" sz="1700" b="1">
                <a:solidFill>
                  <a:schemeClr val="bg1"/>
                </a:solidFill>
                <a:latin typeface="Times New Roman"/>
                <a:cs typeface="Times New Roman"/>
              </a:rPr>
              <a:t>Drone → Sensors → Data Processing → Communication →Rescue Team</a:t>
            </a:r>
            <a:endParaRPr lang="en-US" sz="1700" dirty="0">
              <a:solidFill>
                <a:schemeClr val="bg1"/>
              </a:solidFill>
              <a:latin typeface="Times New Roman"/>
              <a:cs typeface="Times New Roman"/>
            </a:endParaRPr>
          </a:p>
          <a:p>
            <a:pPr>
              <a:lnSpc>
                <a:spcPct val="120000"/>
              </a:lnSpc>
              <a:buFont typeface="Arial"/>
              <a:buChar char="•"/>
            </a:pPr>
            <a:r>
              <a:rPr lang="en-US" sz="1700" b="1">
                <a:solidFill>
                  <a:schemeClr val="bg1"/>
                </a:solidFill>
                <a:latin typeface="Times New Roman"/>
                <a:cs typeface="Times New Roman"/>
              </a:rPr>
              <a:t>Drone:</a:t>
            </a:r>
            <a:r>
              <a:rPr lang="en-US" sz="1700">
                <a:solidFill>
                  <a:schemeClr val="bg1"/>
                </a:solidFill>
                <a:latin typeface="Times New Roman"/>
                <a:cs typeface="Times New Roman"/>
              </a:rPr>
              <a:t> Flies over the disaster area. </a:t>
            </a:r>
            <a:endParaRPr lang="en-US" sz="1700" dirty="0">
              <a:solidFill>
                <a:schemeClr val="bg1"/>
              </a:solidFill>
              <a:latin typeface="Times New Roman"/>
              <a:cs typeface="Times New Roman"/>
            </a:endParaRPr>
          </a:p>
          <a:p>
            <a:pPr>
              <a:lnSpc>
                <a:spcPct val="120000"/>
              </a:lnSpc>
              <a:buFont typeface="Arial"/>
              <a:buChar char="•"/>
            </a:pPr>
            <a:r>
              <a:rPr lang="en-US" sz="1700" b="1">
                <a:solidFill>
                  <a:schemeClr val="bg1"/>
                </a:solidFill>
                <a:latin typeface="Times New Roman"/>
                <a:cs typeface="Times New Roman"/>
              </a:rPr>
              <a:t>Sensors:</a:t>
            </a:r>
            <a:r>
              <a:rPr lang="en-US" sz="1700">
                <a:solidFill>
                  <a:schemeClr val="bg1"/>
                </a:solidFill>
                <a:latin typeface="Times New Roman"/>
                <a:cs typeface="Times New Roman"/>
              </a:rPr>
              <a:t> Collect GPS and thermal information. </a:t>
            </a:r>
            <a:endParaRPr lang="en-US" sz="1700" dirty="0">
              <a:solidFill>
                <a:schemeClr val="bg1"/>
              </a:solidFill>
              <a:latin typeface="Times New Roman"/>
              <a:cs typeface="Times New Roman"/>
            </a:endParaRPr>
          </a:p>
          <a:p>
            <a:pPr>
              <a:lnSpc>
                <a:spcPct val="120000"/>
              </a:lnSpc>
              <a:buFont typeface="Arial"/>
              <a:buChar char="•"/>
            </a:pPr>
            <a:r>
              <a:rPr lang="en-US" sz="1700" b="1">
                <a:solidFill>
                  <a:schemeClr val="bg1"/>
                </a:solidFill>
                <a:latin typeface="Times New Roman"/>
                <a:cs typeface="Times New Roman"/>
              </a:rPr>
              <a:t>Data Processing:</a:t>
            </a:r>
            <a:r>
              <a:rPr lang="en-US" sz="1700">
                <a:solidFill>
                  <a:schemeClr val="bg1"/>
                </a:solidFill>
                <a:latin typeface="Times New Roman"/>
                <a:cs typeface="Times New Roman"/>
              </a:rPr>
              <a:t> Processes the collected data. </a:t>
            </a:r>
            <a:endParaRPr lang="en-US" sz="1700" dirty="0">
              <a:solidFill>
                <a:schemeClr val="bg1"/>
              </a:solidFill>
              <a:latin typeface="Times New Roman"/>
              <a:cs typeface="Times New Roman"/>
            </a:endParaRPr>
          </a:p>
          <a:p>
            <a:pPr>
              <a:lnSpc>
                <a:spcPct val="120000"/>
              </a:lnSpc>
              <a:buFont typeface="Arial"/>
              <a:buChar char="•"/>
            </a:pPr>
            <a:r>
              <a:rPr lang="en-US" sz="1700" b="1">
                <a:solidFill>
                  <a:schemeClr val="bg1"/>
                </a:solidFill>
                <a:latin typeface="Times New Roman"/>
                <a:cs typeface="Times New Roman"/>
              </a:rPr>
              <a:t>Communication:</a:t>
            </a:r>
            <a:r>
              <a:rPr lang="en-US" sz="1700">
                <a:solidFill>
                  <a:schemeClr val="bg1"/>
                </a:solidFill>
                <a:latin typeface="Times New Roman"/>
                <a:cs typeface="Times New Roman"/>
              </a:rPr>
              <a:t> Sends the data to the rescue team. </a:t>
            </a:r>
            <a:endParaRPr lang="en-US" sz="1700" dirty="0">
              <a:solidFill>
                <a:schemeClr val="bg1"/>
              </a:solidFill>
              <a:latin typeface="Times New Roman"/>
              <a:cs typeface="Times New Roman"/>
            </a:endParaRPr>
          </a:p>
          <a:p>
            <a:pPr>
              <a:lnSpc>
                <a:spcPct val="120000"/>
              </a:lnSpc>
              <a:buFont typeface="Arial"/>
              <a:buChar char="•"/>
            </a:pPr>
            <a:r>
              <a:rPr lang="en-US" sz="1700" b="1">
                <a:solidFill>
                  <a:schemeClr val="bg1"/>
                </a:solidFill>
                <a:latin typeface="Times New Roman"/>
                <a:cs typeface="Times New Roman"/>
              </a:rPr>
              <a:t>Rescue Team:</a:t>
            </a:r>
            <a:r>
              <a:rPr lang="en-US" sz="1700">
                <a:solidFill>
                  <a:schemeClr val="bg1"/>
                </a:solidFill>
                <a:latin typeface="Times New Roman"/>
                <a:cs typeface="Times New Roman"/>
              </a:rPr>
              <a:t> Uses the information to locate possible survivors. </a:t>
            </a:r>
            <a:endParaRPr lang="en-US" sz="1700" dirty="0">
              <a:solidFill>
                <a:schemeClr val="bg1"/>
              </a:solidFill>
              <a:latin typeface="Times New Roman"/>
              <a:cs typeface="Times New Roman"/>
            </a:endParaRPr>
          </a:p>
          <a:p>
            <a:pPr>
              <a:lnSpc>
                <a:spcPct val="120000"/>
              </a:lnSpc>
              <a:buFont typeface="Arial"/>
              <a:buChar char="•"/>
            </a:pPr>
            <a:endParaRPr lang="en-US" sz="1700" dirty="0">
              <a:solidFill>
                <a:schemeClr val="bg1"/>
              </a:solidFill>
              <a:latin typeface="Times New Roman"/>
              <a:cs typeface="Times New Roman"/>
            </a:endParaRPr>
          </a:p>
          <a:p>
            <a:pPr>
              <a:buFont typeface="Arial"/>
              <a:buChar char="•"/>
            </a:pPr>
            <a:endParaRPr lang="en-IN" dirty="0">
              <a:solidFill>
                <a:schemeClr val="bg1"/>
              </a:solidFill>
              <a:latin typeface="Aptos"/>
            </a:endParaRPr>
          </a:p>
        </p:txBody>
      </p:sp>
      <p:pic>
        <p:nvPicPr>
          <p:cNvPr id="4" name="Picture 3">
            <a:extLst>
              <a:ext uri="{FF2B5EF4-FFF2-40B4-BE49-F238E27FC236}">
                <a16:creationId xmlns:a16="http://schemas.microsoft.com/office/drawing/2014/main" id="{ED1EDC2B-227D-54DC-601D-55C8BD0A2A34}"/>
              </a:ext>
            </a:extLst>
          </p:cNvPr>
          <p:cNvPicPr>
            <a:picLocks noChangeAspect="1"/>
          </p:cNvPicPr>
          <p:nvPr/>
        </p:nvPicPr>
        <p:blipFill>
          <a:blip r:embed="rId3"/>
          <a:stretch>
            <a:fillRect/>
          </a:stretch>
        </p:blipFill>
        <p:spPr>
          <a:xfrm>
            <a:off x="9230879" y="367290"/>
            <a:ext cx="2724150" cy="5476875"/>
          </a:xfrm>
          <a:prstGeom prst="rect">
            <a:avLst/>
          </a:prstGeom>
        </p:spPr>
      </p:pic>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18068768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6ACDC-70DD-8D00-988E-DA37BE96319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884D26D-7966-8BAC-E601-4617AEC197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B0CE19-A56E-664F-14EE-3AFEC9D648D6}"/>
              </a:ext>
            </a:extLst>
          </p:cNvPr>
          <p:cNvSpPr/>
          <p:nvPr/>
        </p:nvSpPr>
        <p:spPr>
          <a:xfrm>
            <a:off x="-1622" y="-422"/>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7EB7E1F-44E6-8E07-5B64-0EFAF0B5CBF5}"/>
              </a:ext>
            </a:extLst>
          </p:cNvPr>
          <p:cNvSpPr>
            <a:spLocks noGrp="1"/>
          </p:cNvSpPr>
          <p:nvPr>
            <p:ph type="title"/>
          </p:nvPr>
        </p:nvSpPr>
        <p:spPr>
          <a:xfrm>
            <a:off x="838200" y="365125"/>
            <a:ext cx="10515600" cy="1022003"/>
          </a:xfrm>
        </p:spPr>
        <p:txBody>
          <a:bodyPr>
            <a:normAutofit/>
          </a:bodyPr>
          <a:lstStyle/>
          <a:p>
            <a:r>
              <a:rPr lang="en-US" sz="6000">
                <a:solidFill>
                  <a:schemeClr val="bg1"/>
                </a:solidFill>
              </a:rPr>
              <a:t>Risk and Gaps</a:t>
            </a:r>
            <a:endParaRPr lang="en-US" sz="6000" dirty="0">
              <a:solidFill>
                <a:schemeClr val="bg1"/>
              </a:solidFill>
            </a:endParaRPr>
          </a:p>
        </p:txBody>
      </p:sp>
      <p:graphicFrame>
        <p:nvGraphicFramePr>
          <p:cNvPr id="5" name="Content Placeholder 4">
            <a:extLst>
              <a:ext uri="{FF2B5EF4-FFF2-40B4-BE49-F238E27FC236}">
                <a16:creationId xmlns:a16="http://schemas.microsoft.com/office/drawing/2014/main" id="{7CB3A0F7-9370-E660-8631-45890D9DAD69}"/>
              </a:ext>
            </a:extLst>
          </p:cNvPr>
          <p:cNvGraphicFramePr>
            <a:graphicFrameLocks noGrp="1"/>
          </p:cNvGraphicFramePr>
          <p:nvPr>
            <p:ph idx="1"/>
            <p:extLst>
              <p:ext uri="{D42A27DB-BD31-4B8C-83A1-F6EECF244321}">
                <p14:modId xmlns:p14="http://schemas.microsoft.com/office/powerpoint/2010/main" val="445442479"/>
              </p:ext>
            </p:extLst>
          </p:nvPr>
        </p:nvGraphicFramePr>
        <p:xfrm>
          <a:off x="838200" y="1265670"/>
          <a:ext cx="10515597" cy="4663440"/>
        </p:xfrm>
        <a:graphic>
          <a:graphicData uri="http://schemas.openxmlformats.org/drawingml/2006/table">
            <a:tbl>
              <a:tblPr bandRow="1">
                <a:tableStyleId>{5C22544A-7EE6-4342-B048-85BDC9FD1C3A}</a:tableStyleId>
              </a:tblPr>
              <a:tblGrid>
                <a:gridCol w="1065561">
                  <a:extLst>
                    <a:ext uri="{9D8B030D-6E8A-4147-A177-3AD203B41FA5}">
                      <a16:colId xmlns:a16="http://schemas.microsoft.com/office/drawing/2014/main" val="4161006082"/>
                    </a:ext>
                  </a:extLst>
                </a:gridCol>
                <a:gridCol w="3271024">
                  <a:extLst>
                    <a:ext uri="{9D8B030D-6E8A-4147-A177-3AD203B41FA5}">
                      <a16:colId xmlns:a16="http://schemas.microsoft.com/office/drawing/2014/main" val="3156891093"/>
                    </a:ext>
                  </a:extLst>
                </a:gridCol>
                <a:gridCol w="3072780">
                  <a:extLst>
                    <a:ext uri="{9D8B030D-6E8A-4147-A177-3AD203B41FA5}">
                      <a16:colId xmlns:a16="http://schemas.microsoft.com/office/drawing/2014/main" val="267619356"/>
                    </a:ext>
                  </a:extLst>
                </a:gridCol>
                <a:gridCol w="3106232">
                  <a:extLst>
                    <a:ext uri="{9D8B030D-6E8A-4147-A177-3AD203B41FA5}">
                      <a16:colId xmlns:a16="http://schemas.microsoft.com/office/drawing/2014/main" val="779414885"/>
                    </a:ext>
                  </a:extLst>
                </a:gridCol>
              </a:tblGrid>
              <a:tr h="0">
                <a:tc>
                  <a:txBody>
                    <a:bodyPr/>
                    <a:lstStyle/>
                    <a:p>
                      <a:pPr>
                        <a:buNone/>
                      </a:pPr>
                      <a:r>
                        <a:rPr lang="en-US" sz="1600">
                          <a:solidFill>
                            <a:schemeClr val="bg1"/>
                          </a:solidFill>
                        </a:rPr>
                        <a:t>S. No.</a:t>
                      </a:r>
                    </a:p>
                  </a:txBody>
                  <a:tcPr anchor="ctr">
                    <a:lnL>
                      <a:noFill/>
                    </a:lnL>
                    <a:lnR>
                      <a:noFill/>
                    </a:lnR>
                    <a:lnT>
                      <a:noFill/>
                    </a:lnT>
                    <a:lnB>
                      <a:noFill/>
                    </a:lnB>
                    <a:noFill/>
                  </a:tcPr>
                </a:tc>
                <a:tc>
                  <a:txBody>
                    <a:bodyPr/>
                    <a:lstStyle/>
                    <a:p>
                      <a:pPr>
                        <a:buNone/>
                      </a:pPr>
                      <a:r>
                        <a:rPr lang="en-US" sz="1600">
                          <a:solidFill>
                            <a:schemeClr val="bg1"/>
                          </a:solidFill>
                        </a:rPr>
                        <a:t>Risk / Gap</a:t>
                      </a:r>
                    </a:p>
                  </a:txBody>
                  <a:tcPr anchor="ctr">
                    <a:lnL>
                      <a:noFill/>
                    </a:lnL>
                    <a:lnR>
                      <a:noFill/>
                    </a:lnR>
                    <a:lnT>
                      <a:noFill/>
                    </a:lnT>
                    <a:lnB>
                      <a:noFill/>
                    </a:lnB>
                    <a:noFill/>
                  </a:tcPr>
                </a:tc>
                <a:tc>
                  <a:txBody>
                    <a:bodyPr/>
                    <a:lstStyle/>
                    <a:p>
                      <a:pPr>
                        <a:buNone/>
                      </a:pPr>
                      <a:r>
                        <a:rPr lang="en-US" sz="1600">
                          <a:solidFill>
                            <a:schemeClr val="bg1"/>
                          </a:solidFill>
                        </a:rPr>
                        <a:t>Impact</a:t>
                      </a:r>
                    </a:p>
                  </a:txBody>
                  <a:tcPr anchor="ctr">
                    <a:lnL>
                      <a:noFill/>
                    </a:lnL>
                    <a:lnR>
                      <a:noFill/>
                    </a:lnR>
                    <a:lnT>
                      <a:noFill/>
                    </a:lnT>
                    <a:lnB>
                      <a:noFill/>
                    </a:lnB>
                    <a:noFill/>
                  </a:tcPr>
                </a:tc>
                <a:tc>
                  <a:txBody>
                    <a:bodyPr/>
                    <a:lstStyle/>
                    <a:p>
                      <a:pPr>
                        <a:buNone/>
                      </a:pPr>
                      <a:r>
                        <a:rPr lang="en-US" sz="1600">
                          <a:solidFill>
                            <a:schemeClr val="bg1"/>
                          </a:solidFill>
                        </a:rPr>
                        <a:t>Mitigation</a:t>
                      </a:r>
                    </a:p>
                  </a:txBody>
                  <a:tcPr anchor="ctr">
                    <a:lnL>
                      <a:noFill/>
                    </a:lnL>
                    <a:lnR>
                      <a:noFill/>
                    </a:lnR>
                    <a:lnT>
                      <a:noFill/>
                    </a:lnT>
                    <a:lnB>
                      <a:noFill/>
                    </a:lnB>
                    <a:noFill/>
                  </a:tcPr>
                </a:tc>
                <a:extLst>
                  <a:ext uri="{0D108BD9-81ED-4DB2-BD59-A6C34878D82A}">
                    <a16:rowId xmlns:a16="http://schemas.microsoft.com/office/drawing/2014/main" val="1688954306"/>
                  </a:ext>
                </a:extLst>
              </a:tr>
              <a:tr h="0">
                <a:tc>
                  <a:txBody>
                    <a:bodyPr/>
                    <a:lstStyle/>
                    <a:p>
                      <a:pPr>
                        <a:buNone/>
                      </a:pPr>
                      <a:r>
                        <a:rPr lang="en-US" sz="1600">
                          <a:solidFill>
                            <a:schemeClr val="bg1"/>
                          </a:solidFill>
                        </a:rPr>
                        <a:t>1</a:t>
                      </a:r>
                    </a:p>
                  </a:txBody>
                  <a:tcPr anchor="ctr">
                    <a:lnL>
                      <a:noFill/>
                    </a:lnL>
                    <a:lnR>
                      <a:noFill/>
                    </a:lnR>
                    <a:lnT>
                      <a:noFill/>
                    </a:lnT>
                    <a:lnB>
                      <a:noFill/>
                    </a:lnB>
                    <a:noFill/>
                  </a:tcPr>
                </a:tc>
                <a:tc>
                  <a:txBody>
                    <a:bodyPr/>
                    <a:lstStyle/>
                    <a:p>
                      <a:pPr>
                        <a:buNone/>
                      </a:pPr>
                      <a:r>
                        <a:rPr lang="en-US" sz="1600">
                          <a:solidFill>
                            <a:schemeClr val="bg1"/>
                          </a:solidFill>
                        </a:rPr>
                        <a:t>Limited Battery Life</a:t>
                      </a:r>
                    </a:p>
                  </a:txBody>
                  <a:tcPr anchor="ctr">
                    <a:lnL>
                      <a:noFill/>
                    </a:lnL>
                    <a:lnR>
                      <a:noFill/>
                    </a:lnR>
                    <a:lnT>
                      <a:noFill/>
                    </a:lnT>
                    <a:lnB>
                      <a:noFill/>
                    </a:lnB>
                    <a:noFill/>
                  </a:tcPr>
                </a:tc>
                <a:tc>
                  <a:txBody>
                    <a:bodyPr/>
                    <a:lstStyle/>
                    <a:p>
                      <a:pPr>
                        <a:buNone/>
                      </a:pPr>
                      <a:r>
                        <a:rPr lang="en-US" sz="1600">
                          <a:solidFill>
                            <a:schemeClr val="bg1"/>
                          </a:solidFill>
                        </a:rPr>
                        <a:t>Reduces flight time and coverage.</a:t>
                      </a:r>
                    </a:p>
                  </a:txBody>
                  <a:tcPr anchor="ctr">
                    <a:lnL>
                      <a:noFill/>
                    </a:lnL>
                    <a:lnR>
                      <a:noFill/>
                    </a:lnR>
                    <a:lnT>
                      <a:noFill/>
                    </a:lnT>
                    <a:lnB>
                      <a:noFill/>
                    </a:lnB>
                    <a:noFill/>
                  </a:tcPr>
                </a:tc>
                <a:tc>
                  <a:txBody>
                    <a:bodyPr/>
                    <a:lstStyle/>
                    <a:p>
                      <a:pPr>
                        <a:buNone/>
                      </a:pPr>
                      <a:r>
                        <a:rPr lang="en-US" sz="1600">
                          <a:solidFill>
                            <a:schemeClr val="bg1"/>
                          </a:solidFill>
                        </a:rPr>
                        <a:t>Use high-capacity batteries.</a:t>
                      </a:r>
                    </a:p>
                  </a:txBody>
                  <a:tcPr anchor="ctr">
                    <a:lnL>
                      <a:noFill/>
                    </a:lnL>
                    <a:lnR>
                      <a:noFill/>
                    </a:lnR>
                    <a:lnT>
                      <a:noFill/>
                    </a:lnT>
                    <a:lnB>
                      <a:noFill/>
                    </a:lnB>
                    <a:noFill/>
                  </a:tcPr>
                </a:tc>
                <a:extLst>
                  <a:ext uri="{0D108BD9-81ED-4DB2-BD59-A6C34878D82A}">
                    <a16:rowId xmlns:a16="http://schemas.microsoft.com/office/drawing/2014/main" val="2563464072"/>
                  </a:ext>
                </a:extLst>
              </a:tr>
              <a:tr h="0">
                <a:tc>
                  <a:txBody>
                    <a:bodyPr/>
                    <a:lstStyle/>
                    <a:p>
                      <a:pPr>
                        <a:buNone/>
                      </a:pPr>
                      <a:r>
                        <a:rPr lang="en-US" sz="1600">
                          <a:solidFill>
                            <a:schemeClr val="bg1"/>
                          </a:solidFill>
                        </a:rPr>
                        <a:t>2</a:t>
                      </a:r>
                    </a:p>
                  </a:txBody>
                  <a:tcPr anchor="ctr">
                    <a:lnL>
                      <a:noFill/>
                    </a:lnL>
                    <a:lnR>
                      <a:noFill/>
                    </a:lnR>
                    <a:lnT>
                      <a:noFill/>
                    </a:lnT>
                    <a:lnB>
                      <a:noFill/>
                    </a:lnB>
                    <a:noFill/>
                  </a:tcPr>
                </a:tc>
                <a:tc>
                  <a:txBody>
                    <a:bodyPr/>
                    <a:lstStyle/>
                    <a:p>
                      <a:pPr>
                        <a:buNone/>
                      </a:pPr>
                      <a:r>
                        <a:rPr lang="en-US" sz="1600">
                          <a:solidFill>
                            <a:schemeClr val="bg1"/>
                          </a:solidFill>
                        </a:rPr>
                        <a:t>Weather Dependency</a:t>
                      </a:r>
                    </a:p>
                  </a:txBody>
                  <a:tcPr anchor="ctr">
                    <a:lnL>
                      <a:noFill/>
                    </a:lnL>
                    <a:lnR>
                      <a:noFill/>
                    </a:lnR>
                    <a:lnT>
                      <a:noFill/>
                    </a:lnT>
                    <a:lnB>
                      <a:noFill/>
                    </a:lnB>
                    <a:noFill/>
                  </a:tcPr>
                </a:tc>
                <a:tc>
                  <a:txBody>
                    <a:bodyPr/>
                    <a:lstStyle/>
                    <a:p>
                      <a:pPr>
                        <a:buNone/>
                      </a:pPr>
                      <a:r>
                        <a:rPr lang="en-US" sz="1600">
                          <a:solidFill>
                            <a:schemeClr val="bg1"/>
                          </a:solidFill>
                        </a:rPr>
                        <a:t>Affects flight stability.</a:t>
                      </a:r>
                    </a:p>
                  </a:txBody>
                  <a:tcPr anchor="ctr">
                    <a:lnL>
                      <a:noFill/>
                    </a:lnL>
                    <a:lnR>
                      <a:noFill/>
                    </a:lnR>
                    <a:lnT>
                      <a:noFill/>
                    </a:lnT>
                    <a:lnB>
                      <a:noFill/>
                    </a:lnB>
                    <a:noFill/>
                  </a:tcPr>
                </a:tc>
                <a:tc>
                  <a:txBody>
                    <a:bodyPr/>
                    <a:lstStyle/>
                    <a:p>
                      <a:pPr>
                        <a:buNone/>
                      </a:pPr>
                      <a:r>
                        <a:rPr lang="en-US" sz="1600">
                          <a:solidFill>
                            <a:schemeClr val="bg1"/>
                          </a:solidFill>
                        </a:rPr>
                        <a:t>Use weather-resistant drones.</a:t>
                      </a:r>
                    </a:p>
                  </a:txBody>
                  <a:tcPr anchor="ctr">
                    <a:lnL>
                      <a:noFill/>
                    </a:lnL>
                    <a:lnR>
                      <a:noFill/>
                    </a:lnR>
                    <a:lnT>
                      <a:noFill/>
                    </a:lnT>
                    <a:lnB>
                      <a:noFill/>
                    </a:lnB>
                    <a:noFill/>
                  </a:tcPr>
                </a:tc>
                <a:extLst>
                  <a:ext uri="{0D108BD9-81ED-4DB2-BD59-A6C34878D82A}">
                    <a16:rowId xmlns:a16="http://schemas.microsoft.com/office/drawing/2014/main" val="4268744466"/>
                  </a:ext>
                </a:extLst>
              </a:tr>
              <a:tr h="0">
                <a:tc>
                  <a:txBody>
                    <a:bodyPr/>
                    <a:lstStyle/>
                    <a:p>
                      <a:pPr>
                        <a:buNone/>
                      </a:pPr>
                      <a:r>
                        <a:rPr lang="en-US" sz="1600">
                          <a:solidFill>
                            <a:schemeClr val="bg1"/>
                          </a:solidFill>
                        </a:rPr>
                        <a:t>3</a:t>
                      </a:r>
                    </a:p>
                  </a:txBody>
                  <a:tcPr anchor="ctr">
                    <a:lnL>
                      <a:noFill/>
                    </a:lnL>
                    <a:lnR>
                      <a:noFill/>
                    </a:lnR>
                    <a:lnT>
                      <a:noFill/>
                    </a:lnT>
                    <a:lnB>
                      <a:noFill/>
                    </a:lnB>
                    <a:noFill/>
                  </a:tcPr>
                </a:tc>
                <a:tc>
                  <a:txBody>
                    <a:bodyPr/>
                    <a:lstStyle/>
                    <a:p>
                      <a:pPr>
                        <a:buNone/>
                      </a:pPr>
                      <a:r>
                        <a:rPr lang="en-US" sz="1600">
                          <a:solidFill>
                            <a:schemeClr val="bg1"/>
                          </a:solidFill>
                        </a:rPr>
                        <a:t>High Equipment Cost</a:t>
                      </a:r>
                    </a:p>
                  </a:txBody>
                  <a:tcPr anchor="ctr">
                    <a:lnL>
                      <a:noFill/>
                    </a:lnL>
                    <a:lnR>
                      <a:noFill/>
                    </a:lnR>
                    <a:lnT>
                      <a:noFill/>
                    </a:lnT>
                    <a:lnB>
                      <a:noFill/>
                    </a:lnB>
                    <a:noFill/>
                  </a:tcPr>
                </a:tc>
                <a:tc>
                  <a:txBody>
                    <a:bodyPr/>
                    <a:lstStyle/>
                    <a:p>
                      <a:pPr>
                        <a:buNone/>
                      </a:pPr>
                      <a:r>
                        <a:rPr lang="en-US" sz="1600">
                          <a:solidFill>
                            <a:schemeClr val="bg1"/>
                          </a:solidFill>
                        </a:rPr>
                        <a:t>Increases project cost.</a:t>
                      </a:r>
                    </a:p>
                  </a:txBody>
                  <a:tcPr anchor="ctr">
                    <a:lnL>
                      <a:noFill/>
                    </a:lnL>
                    <a:lnR>
                      <a:noFill/>
                    </a:lnR>
                    <a:lnT>
                      <a:noFill/>
                    </a:lnT>
                    <a:lnB>
                      <a:noFill/>
                    </a:lnB>
                    <a:noFill/>
                  </a:tcPr>
                </a:tc>
                <a:tc>
                  <a:txBody>
                    <a:bodyPr/>
                    <a:lstStyle/>
                    <a:p>
                      <a:pPr>
                        <a:buNone/>
                      </a:pPr>
                      <a:r>
                        <a:rPr lang="en-US" sz="1600">
                          <a:solidFill>
                            <a:schemeClr val="bg1"/>
                          </a:solidFill>
                        </a:rPr>
                        <a:t>Use affordable components.</a:t>
                      </a:r>
                    </a:p>
                  </a:txBody>
                  <a:tcPr anchor="ctr">
                    <a:lnL>
                      <a:noFill/>
                    </a:lnL>
                    <a:lnR>
                      <a:noFill/>
                    </a:lnR>
                    <a:lnT>
                      <a:noFill/>
                    </a:lnT>
                    <a:lnB>
                      <a:noFill/>
                    </a:lnB>
                    <a:noFill/>
                  </a:tcPr>
                </a:tc>
                <a:extLst>
                  <a:ext uri="{0D108BD9-81ED-4DB2-BD59-A6C34878D82A}">
                    <a16:rowId xmlns:a16="http://schemas.microsoft.com/office/drawing/2014/main" val="3344828060"/>
                  </a:ext>
                </a:extLst>
              </a:tr>
              <a:tr h="0">
                <a:tc>
                  <a:txBody>
                    <a:bodyPr/>
                    <a:lstStyle/>
                    <a:p>
                      <a:pPr>
                        <a:buNone/>
                      </a:pPr>
                      <a:r>
                        <a:rPr lang="en-US" sz="1600">
                          <a:solidFill>
                            <a:schemeClr val="bg1"/>
                          </a:solidFill>
                        </a:rPr>
                        <a:t>4</a:t>
                      </a:r>
                    </a:p>
                  </a:txBody>
                  <a:tcPr anchor="ctr">
                    <a:lnL>
                      <a:noFill/>
                    </a:lnL>
                    <a:lnR>
                      <a:noFill/>
                    </a:lnR>
                    <a:lnT>
                      <a:noFill/>
                    </a:lnT>
                    <a:lnB>
                      <a:noFill/>
                    </a:lnB>
                    <a:noFill/>
                  </a:tcPr>
                </a:tc>
                <a:tc>
                  <a:txBody>
                    <a:bodyPr/>
                    <a:lstStyle/>
                    <a:p>
                      <a:pPr>
                        <a:buNone/>
                      </a:pPr>
                      <a:r>
                        <a:rPr lang="en-US" sz="1600">
                          <a:solidFill>
                            <a:schemeClr val="bg1"/>
                          </a:solidFill>
                        </a:rPr>
                        <a:t>Detection Errors</a:t>
                      </a:r>
                    </a:p>
                  </a:txBody>
                  <a:tcPr anchor="ctr">
                    <a:lnL>
                      <a:noFill/>
                    </a:lnL>
                    <a:lnR>
                      <a:noFill/>
                    </a:lnR>
                    <a:lnT>
                      <a:noFill/>
                    </a:lnT>
                    <a:lnB>
                      <a:noFill/>
                    </a:lnB>
                    <a:noFill/>
                  </a:tcPr>
                </a:tc>
                <a:tc>
                  <a:txBody>
                    <a:bodyPr/>
                    <a:lstStyle/>
                    <a:p>
                      <a:pPr>
                        <a:buNone/>
                      </a:pPr>
                      <a:r>
                        <a:rPr lang="en-US" sz="1600">
                          <a:solidFill>
                            <a:schemeClr val="bg1"/>
                          </a:solidFill>
                        </a:rPr>
                        <a:t>Causes false alarms.</a:t>
                      </a:r>
                    </a:p>
                  </a:txBody>
                  <a:tcPr anchor="ctr">
                    <a:lnL>
                      <a:noFill/>
                    </a:lnL>
                    <a:lnR>
                      <a:noFill/>
                    </a:lnR>
                    <a:lnT>
                      <a:noFill/>
                    </a:lnT>
                    <a:lnB>
                      <a:noFill/>
                    </a:lnB>
                    <a:noFill/>
                  </a:tcPr>
                </a:tc>
                <a:tc>
                  <a:txBody>
                    <a:bodyPr/>
                    <a:lstStyle/>
                    <a:p>
                      <a:pPr>
                        <a:buNone/>
                      </a:pPr>
                      <a:r>
                        <a:rPr lang="en-US" sz="1600">
                          <a:solidFill>
                            <a:schemeClr val="bg1"/>
                          </a:solidFill>
                        </a:rPr>
                        <a:t>Combine AI, thermal, and RGB cameras.</a:t>
                      </a:r>
                    </a:p>
                  </a:txBody>
                  <a:tcPr anchor="ctr">
                    <a:lnL>
                      <a:noFill/>
                    </a:lnL>
                    <a:lnR>
                      <a:noFill/>
                    </a:lnR>
                    <a:lnT>
                      <a:noFill/>
                    </a:lnT>
                    <a:lnB>
                      <a:noFill/>
                    </a:lnB>
                    <a:noFill/>
                  </a:tcPr>
                </a:tc>
                <a:extLst>
                  <a:ext uri="{0D108BD9-81ED-4DB2-BD59-A6C34878D82A}">
                    <a16:rowId xmlns:a16="http://schemas.microsoft.com/office/drawing/2014/main" val="2190214733"/>
                  </a:ext>
                </a:extLst>
              </a:tr>
              <a:tr h="0">
                <a:tc>
                  <a:txBody>
                    <a:bodyPr/>
                    <a:lstStyle/>
                    <a:p>
                      <a:pPr>
                        <a:buNone/>
                      </a:pPr>
                      <a:r>
                        <a:rPr lang="en-US" sz="1600">
                          <a:solidFill>
                            <a:schemeClr val="bg1"/>
                          </a:solidFill>
                        </a:rPr>
                        <a:t>5</a:t>
                      </a:r>
                    </a:p>
                  </a:txBody>
                  <a:tcPr anchor="ctr">
                    <a:lnL>
                      <a:noFill/>
                    </a:lnL>
                    <a:lnR>
                      <a:noFill/>
                    </a:lnR>
                    <a:lnT>
                      <a:noFill/>
                    </a:lnT>
                    <a:lnB>
                      <a:noFill/>
                    </a:lnB>
                    <a:noFill/>
                  </a:tcPr>
                </a:tc>
                <a:tc>
                  <a:txBody>
                    <a:bodyPr/>
                    <a:lstStyle/>
                    <a:p>
                      <a:pPr>
                        <a:buNone/>
                      </a:pPr>
                      <a:r>
                        <a:rPr lang="en-US" sz="1600">
                          <a:solidFill>
                            <a:schemeClr val="bg1"/>
                          </a:solidFill>
                        </a:rPr>
                        <a:t>Communication Failure</a:t>
                      </a:r>
                    </a:p>
                  </a:txBody>
                  <a:tcPr anchor="ctr">
                    <a:lnL>
                      <a:noFill/>
                    </a:lnL>
                    <a:lnR>
                      <a:noFill/>
                    </a:lnR>
                    <a:lnT>
                      <a:noFill/>
                    </a:lnT>
                    <a:lnB>
                      <a:noFill/>
                    </a:lnB>
                    <a:noFill/>
                  </a:tcPr>
                </a:tc>
                <a:tc>
                  <a:txBody>
                    <a:bodyPr/>
                    <a:lstStyle/>
                    <a:p>
                      <a:pPr>
                        <a:buNone/>
                      </a:pPr>
                      <a:r>
                        <a:rPr lang="en-US" sz="1600">
                          <a:solidFill>
                            <a:schemeClr val="bg1"/>
                          </a:solidFill>
                        </a:rPr>
                        <a:t>Delays rescue operations.</a:t>
                      </a:r>
                    </a:p>
                  </a:txBody>
                  <a:tcPr anchor="ctr">
                    <a:lnL>
                      <a:noFill/>
                    </a:lnL>
                    <a:lnR>
                      <a:noFill/>
                    </a:lnR>
                    <a:lnT>
                      <a:noFill/>
                    </a:lnT>
                    <a:lnB>
                      <a:noFill/>
                    </a:lnB>
                    <a:noFill/>
                  </a:tcPr>
                </a:tc>
                <a:tc>
                  <a:txBody>
                    <a:bodyPr/>
                    <a:lstStyle/>
                    <a:p>
                      <a:pPr>
                        <a:buNone/>
                      </a:pPr>
                      <a:r>
                        <a:rPr lang="en-US" sz="1600">
                          <a:solidFill>
                            <a:schemeClr val="bg1"/>
                          </a:solidFill>
                        </a:rPr>
                        <a:t>Use backup communication systems.</a:t>
                      </a:r>
                    </a:p>
                  </a:txBody>
                  <a:tcPr anchor="ctr">
                    <a:lnL>
                      <a:noFill/>
                    </a:lnL>
                    <a:lnR>
                      <a:noFill/>
                    </a:lnR>
                    <a:lnT>
                      <a:noFill/>
                    </a:lnT>
                    <a:lnB>
                      <a:noFill/>
                    </a:lnB>
                    <a:noFill/>
                  </a:tcPr>
                </a:tc>
                <a:extLst>
                  <a:ext uri="{0D108BD9-81ED-4DB2-BD59-A6C34878D82A}">
                    <a16:rowId xmlns:a16="http://schemas.microsoft.com/office/drawing/2014/main" val="3049235426"/>
                  </a:ext>
                </a:extLst>
              </a:tr>
              <a:tr h="0">
                <a:tc>
                  <a:txBody>
                    <a:bodyPr/>
                    <a:lstStyle/>
                    <a:p>
                      <a:pPr>
                        <a:buNone/>
                      </a:pPr>
                      <a:r>
                        <a:rPr lang="en-US" sz="1600">
                          <a:solidFill>
                            <a:schemeClr val="bg1"/>
                          </a:solidFill>
                        </a:rPr>
                        <a:t>6</a:t>
                      </a:r>
                    </a:p>
                  </a:txBody>
                  <a:tcPr anchor="ctr">
                    <a:lnL>
                      <a:noFill/>
                    </a:lnL>
                    <a:lnR>
                      <a:noFill/>
                    </a:lnR>
                    <a:lnT>
                      <a:noFill/>
                    </a:lnT>
                    <a:lnB>
                      <a:noFill/>
                    </a:lnB>
                    <a:noFill/>
                  </a:tcPr>
                </a:tc>
                <a:tc>
                  <a:txBody>
                    <a:bodyPr/>
                    <a:lstStyle/>
                    <a:p>
                      <a:pPr>
                        <a:buNone/>
                      </a:pPr>
                      <a:r>
                        <a:rPr lang="en-US" sz="1600">
                          <a:solidFill>
                            <a:schemeClr val="bg1"/>
                          </a:solidFill>
                        </a:rPr>
                        <a:t>GPS Errors</a:t>
                      </a:r>
                    </a:p>
                  </a:txBody>
                  <a:tcPr anchor="ctr">
                    <a:lnL>
                      <a:noFill/>
                    </a:lnL>
                    <a:lnR>
                      <a:noFill/>
                    </a:lnR>
                    <a:lnT>
                      <a:noFill/>
                    </a:lnT>
                    <a:lnB>
                      <a:noFill/>
                    </a:lnB>
                    <a:noFill/>
                  </a:tcPr>
                </a:tc>
                <a:tc>
                  <a:txBody>
                    <a:bodyPr/>
                    <a:lstStyle/>
                    <a:p>
                      <a:pPr>
                        <a:buNone/>
                      </a:pPr>
                      <a:r>
                        <a:rPr lang="en-US" sz="1600">
                          <a:solidFill>
                            <a:schemeClr val="bg1"/>
                          </a:solidFill>
                        </a:rPr>
                        <a:t>Provides inaccurate locations.</a:t>
                      </a:r>
                    </a:p>
                  </a:txBody>
                  <a:tcPr anchor="ctr">
                    <a:lnL>
                      <a:noFill/>
                    </a:lnL>
                    <a:lnR>
                      <a:noFill/>
                    </a:lnR>
                    <a:lnT>
                      <a:noFill/>
                    </a:lnT>
                    <a:lnB>
                      <a:noFill/>
                    </a:lnB>
                    <a:noFill/>
                  </a:tcPr>
                </a:tc>
                <a:tc>
                  <a:txBody>
                    <a:bodyPr/>
                    <a:lstStyle/>
                    <a:p>
                      <a:pPr>
                        <a:buNone/>
                      </a:pPr>
                      <a:r>
                        <a:rPr lang="en-US" sz="1600">
                          <a:solidFill>
                            <a:schemeClr val="bg1"/>
                          </a:solidFill>
                        </a:rPr>
                        <a:t>Combine GPS with IMU data.</a:t>
                      </a:r>
                    </a:p>
                  </a:txBody>
                  <a:tcPr anchor="ctr">
                    <a:lnL>
                      <a:noFill/>
                    </a:lnL>
                    <a:lnR>
                      <a:noFill/>
                    </a:lnR>
                    <a:lnT>
                      <a:noFill/>
                    </a:lnT>
                    <a:lnB>
                      <a:noFill/>
                    </a:lnB>
                    <a:noFill/>
                  </a:tcPr>
                </a:tc>
                <a:extLst>
                  <a:ext uri="{0D108BD9-81ED-4DB2-BD59-A6C34878D82A}">
                    <a16:rowId xmlns:a16="http://schemas.microsoft.com/office/drawing/2014/main" val="2907072688"/>
                  </a:ext>
                </a:extLst>
              </a:tr>
              <a:tr h="0">
                <a:tc>
                  <a:txBody>
                    <a:bodyPr/>
                    <a:lstStyle/>
                    <a:p>
                      <a:pPr>
                        <a:buNone/>
                      </a:pPr>
                      <a:r>
                        <a:rPr lang="en-US" sz="1600">
                          <a:solidFill>
                            <a:schemeClr val="bg1"/>
                          </a:solidFill>
                        </a:rPr>
                        <a:t>7</a:t>
                      </a:r>
                    </a:p>
                  </a:txBody>
                  <a:tcPr anchor="ctr">
                    <a:lnL>
                      <a:noFill/>
                    </a:lnL>
                    <a:lnR>
                      <a:noFill/>
                    </a:lnR>
                    <a:lnT>
                      <a:noFill/>
                    </a:lnT>
                    <a:lnB>
                      <a:noFill/>
                    </a:lnB>
                    <a:noFill/>
                  </a:tcPr>
                </a:tc>
                <a:tc>
                  <a:txBody>
                    <a:bodyPr/>
                    <a:lstStyle/>
                    <a:p>
                      <a:pPr>
                        <a:buNone/>
                      </a:pPr>
                      <a:r>
                        <a:rPr lang="en-US" sz="1600">
                          <a:solidFill>
                            <a:schemeClr val="bg1"/>
                          </a:solidFill>
                        </a:rPr>
                        <a:t>Regulatory Restrictions</a:t>
                      </a:r>
                    </a:p>
                  </a:txBody>
                  <a:tcPr anchor="ctr">
                    <a:lnL>
                      <a:noFill/>
                    </a:lnL>
                    <a:lnR>
                      <a:noFill/>
                    </a:lnR>
                    <a:lnT>
                      <a:noFill/>
                    </a:lnT>
                    <a:lnB>
                      <a:noFill/>
                    </a:lnB>
                    <a:noFill/>
                  </a:tcPr>
                </a:tc>
                <a:tc>
                  <a:txBody>
                    <a:bodyPr/>
                    <a:lstStyle/>
                    <a:p>
                      <a:pPr>
                        <a:buNone/>
                      </a:pPr>
                      <a:r>
                        <a:rPr lang="en-US" sz="1600">
                          <a:solidFill>
                            <a:schemeClr val="bg1"/>
                          </a:solidFill>
                        </a:rPr>
                        <a:t>Delays drone deployment.</a:t>
                      </a:r>
                    </a:p>
                  </a:txBody>
                  <a:tcPr anchor="ctr">
                    <a:lnL>
                      <a:noFill/>
                    </a:lnL>
                    <a:lnR>
                      <a:noFill/>
                    </a:lnR>
                    <a:lnT>
                      <a:noFill/>
                    </a:lnT>
                    <a:lnB>
                      <a:noFill/>
                    </a:lnB>
                    <a:noFill/>
                  </a:tcPr>
                </a:tc>
                <a:tc>
                  <a:txBody>
                    <a:bodyPr/>
                    <a:lstStyle/>
                    <a:p>
                      <a:pPr>
                        <a:buNone/>
                      </a:pPr>
                      <a:r>
                        <a:rPr lang="en-US" sz="1600">
                          <a:solidFill>
                            <a:schemeClr val="bg1"/>
                          </a:solidFill>
                        </a:rPr>
                        <a:t>Obtain flight permissions.</a:t>
                      </a:r>
                    </a:p>
                  </a:txBody>
                  <a:tcPr anchor="ctr">
                    <a:lnL>
                      <a:noFill/>
                    </a:lnL>
                    <a:lnR>
                      <a:noFill/>
                    </a:lnR>
                    <a:lnT>
                      <a:noFill/>
                    </a:lnT>
                    <a:lnB>
                      <a:noFill/>
                    </a:lnB>
                    <a:noFill/>
                  </a:tcPr>
                </a:tc>
                <a:extLst>
                  <a:ext uri="{0D108BD9-81ED-4DB2-BD59-A6C34878D82A}">
                    <a16:rowId xmlns:a16="http://schemas.microsoft.com/office/drawing/2014/main" val="4266659732"/>
                  </a:ext>
                </a:extLst>
              </a:tr>
              <a:tr h="0">
                <a:tc>
                  <a:txBody>
                    <a:bodyPr/>
                    <a:lstStyle/>
                    <a:p>
                      <a:pPr>
                        <a:buNone/>
                      </a:pPr>
                      <a:r>
                        <a:rPr lang="en-US" sz="1600">
                          <a:solidFill>
                            <a:schemeClr val="bg1"/>
                          </a:solidFill>
                        </a:rPr>
                        <a:t>8</a:t>
                      </a:r>
                    </a:p>
                  </a:txBody>
                  <a:tcPr anchor="ctr">
                    <a:lnL>
                      <a:noFill/>
                    </a:lnL>
                    <a:lnR>
                      <a:noFill/>
                    </a:lnR>
                    <a:lnT>
                      <a:noFill/>
                    </a:lnT>
                    <a:lnB>
                      <a:noFill/>
                    </a:lnB>
                    <a:noFill/>
                  </a:tcPr>
                </a:tc>
                <a:tc>
                  <a:txBody>
                    <a:bodyPr/>
                    <a:lstStyle/>
                    <a:p>
                      <a:pPr>
                        <a:buNone/>
                      </a:pPr>
                      <a:r>
                        <a:rPr lang="en-US" sz="1600">
                          <a:solidFill>
                            <a:schemeClr val="bg1"/>
                          </a:solidFill>
                        </a:rPr>
                        <a:t>Lack of Skilled Operators</a:t>
                      </a:r>
                    </a:p>
                  </a:txBody>
                  <a:tcPr anchor="ctr">
                    <a:lnL>
                      <a:noFill/>
                    </a:lnL>
                    <a:lnR>
                      <a:noFill/>
                    </a:lnR>
                    <a:lnT>
                      <a:noFill/>
                    </a:lnT>
                    <a:lnB>
                      <a:noFill/>
                    </a:lnB>
                    <a:noFill/>
                  </a:tcPr>
                </a:tc>
                <a:tc>
                  <a:txBody>
                    <a:bodyPr/>
                    <a:lstStyle/>
                    <a:p>
                      <a:pPr>
                        <a:buNone/>
                      </a:pPr>
                      <a:r>
                        <a:rPr lang="en-US" sz="1600">
                          <a:solidFill>
                            <a:schemeClr val="bg1"/>
                          </a:solidFill>
                        </a:rPr>
                        <a:t>Affects safe operation.</a:t>
                      </a:r>
                    </a:p>
                  </a:txBody>
                  <a:tcPr anchor="ctr">
                    <a:lnL>
                      <a:noFill/>
                    </a:lnL>
                    <a:lnR>
                      <a:noFill/>
                    </a:lnR>
                    <a:lnT>
                      <a:noFill/>
                    </a:lnT>
                    <a:lnB>
                      <a:noFill/>
                    </a:lnB>
                    <a:noFill/>
                  </a:tcPr>
                </a:tc>
                <a:tc>
                  <a:txBody>
                    <a:bodyPr/>
                    <a:lstStyle/>
                    <a:p>
                      <a:pPr>
                        <a:buNone/>
                      </a:pPr>
                      <a:r>
                        <a:rPr lang="en-US" sz="1600">
                          <a:solidFill>
                            <a:schemeClr val="bg1"/>
                          </a:solidFill>
                        </a:rPr>
                        <a:t>Train operators.</a:t>
                      </a:r>
                    </a:p>
                  </a:txBody>
                  <a:tcPr anchor="ctr">
                    <a:lnL>
                      <a:noFill/>
                    </a:lnL>
                    <a:lnR>
                      <a:noFill/>
                    </a:lnR>
                    <a:lnT>
                      <a:noFill/>
                    </a:lnT>
                    <a:lnB>
                      <a:noFill/>
                    </a:lnB>
                    <a:noFill/>
                  </a:tcPr>
                </a:tc>
                <a:extLst>
                  <a:ext uri="{0D108BD9-81ED-4DB2-BD59-A6C34878D82A}">
                    <a16:rowId xmlns:a16="http://schemas.microsoft.com/office/drawing/2014/main" val="2300573977"/>
                  </a:ext>
                </a:extLst>
              </a:tr>
              <a:tr h="0">
                <a:tc>
                  <a:txBody>
                    <a:bodyPr/>
                    <a:lstStyle/>
                    <a:p>
                      <a:pPr>
                        <a:buNone/>
                      </a:pPr>
                      <a:r>
                        <a:rPr lang="en-US" sz="1600">
                          <a:solidFill>
                            <a:schemeClr val="bg1"/>
                          </a:solidFill>
                        </a:rPr>
                        <a:t>9</a:t>
                      </a:r>
                    </a:p>
                  </a:txBody>
                  <a:tcPr anchor="ctr">
                    <a:lnL>
                      <a:noFill/>
                    </a:lnL>
                    <a:lnR>
                      <a:noFill/>
                    </a:lnR>
                    <a:lnT>
                      <a:noFill/>
                    </a:lnT>
                    <a:lnB>
                      <a:noFill/>
                    </a:lnB>
                    <a:noFill/>
                  </a:tcPr>
                </a:tc>
                <a:tc>
                  <a:txBody>
                    <a:bodyPr/>
                    <a:lstStyle/>
                    <a:p>
                      <a:pPr>
                        <a:buNone/>
                      </a:pPr>
                      <a:r>
                        <a:rPr lang="en-US" sz="1600">
                          <a:solidFill>
                            <a:schemeClr val="bg1"/>
                          </a:solidFill>
                        </a:rPr>
                        <a:t>Slow Data Processing</a:t>
                      </a:r>
                    </a:p>
                  </a:txBody>
                  <a:tcPr anchor="ctr">
                    <a:lnL>
                      <a:noFill/>
                    </a:lnL>
                    <a:lnR>
                      <a:noFill/>
                    </a:lnR>
                    <a:lnT>
                      <a:noFill/>
                    </a:lnT>
                    <a:lnB>
                      <a:noFill/>
                    </a:lnB>
                    <a:noFill/>
                  </a:tcPr>
                </a:tc>
                <a:tc>
                  <a:txBody>
                    <a:bodyPr/>
                    <a:lstStyle/>
                    <a:p>
                      <a:pPr>
                        <a:buNone/>
                      </a:pPr>
                      <a:r>
                        <a:rPr lang="en-US" sz="1600">
                          <a:solidFill>
                            <a:schemeClr val="bg1"/>
                          </a:solidFill>
                        </a:rPr>
                        <a:t>Delays survivor detection.</a:t>
                      </a:r>
                    </a:p>
                  </a:txBody>
                  <a:tcPr anchor="ctr">
                    <a:lnL>
                      <a:noFill/>
                    </a:lnL>
                    <a:lnR>
                      <a:noFill/>
                    </a:lnR>
                    <a:lnT>
                      <a:noFill/>
                    </a:lnT>
                    <a:lnB>
                      <a:noFill/>
                    </a:lnB>
                    <a:noFill/>
                  </a:tcPr>
                </a:tc>
                <a:tc>
                  <a:txBody>
                    <a:bodyPr/>
                    <a:lstStyle/>
                    <a:p>
                      <a:pPr>
                        <a:buNone/>
                      </a:pPr>
                      <a:r>
                        <a:rPr lang="en-US" sz="1600">
                          <a:solidFill>
                            <a:schemeClr val="bg1"/>
                          </a:solidFill>
                        </a:rPr>
                        <a:t>Optimize AI models.</a:t>
                      </a:r>
                    </a:p>
                  </a:txBody>
                  <a:tcPr anchor="ctr">
                    <a:lnL>
                      <a:noFill/>
                    </a:lnL>
                    <a:lnR>
                      <a:noFill/>
                    </a:lnR>
                    <a:lnT>
                      <a:noFill/>
                    </a:lnT>
                    <a:lnB>
                      <a:noFill/>
                    </a:lnB>
                    <a:noFill/>
                  </a:tcPr>
                </a:tc>
                <a:extLst>
                  <a:ext uri="{0D108BD9-81ED-4DB2-BD59-A6C34878D82A}">
                    <a16:rowId xmlns:a16="http://schemas.microsoft.com/office/drawing/2014/main" val="3417323258"/>
                  </a:ext>
                </a:extLst>
              </a:tr>
              <a:tr h="0">
                <a:tc>
                  <a:txBody>
                    <a:bodyPr/>
                    <a:lstStyle/>
                    <a:p>
                      <a:pPr>
                        <a:buNone/>
                      </a:pPr>
                      <a:r>
                        <a:rPr lang="en-US" sz="1600">
                          <a:solidFill>
                            <a:schemeClr val="bg1"/>
                          </a:solidFill>
                        </a:rPr>
                        <a:t>10</a:t>
                      </a:r>
                    </a:p>
                  </a:txBody>
                  <a:tcPr anchor="ctr">
                    <a:lnL>
                      <a:noFill/>
                    </a:lnL>
                    <a:lnR>
                      <a:noFill/>
                    </a:lnR>
                    <a:lnT>
                      <a:noFill/>
                    </a:lnT>
                    <a:lnB>
                      <a:noFill/>
                    </a:lnB>
                    <a:noFill/>
                  </a:tcPr>
                </a:tc>
                <a:tc>
                  <a:txBody>
                    <a:bodyPr/>
                    <a:lstStyle/>
                    <a:p>
                      <a:pPr>
                        <a:buNone/>
                      </a:pPr>
                      <a:r>
                        <a:rPr lang="en-US" sz="1600">
                          <a:solidFill>
                            <a:schemeClr val="bg1"/>
                          </a:solidFill>
                        </a:rPr>
                        <a:t>Safety and Privacy Risks</a:t>
                      </a:r>
                    </a:p>
                  </a:txBody>
                  <a:tcPr anchor="ctr">
                    <a:lnL>
                      <a:noFill/>
                    </a:lnL>
                    <a:lnR>
                      <a:noFill/>
                    </a:lnR>
                    <a:lnT>
                      <a:noFill/>
                    </a:lnT>
                    <a:lnB>
                      <a:noFill/>
                    </a:lnB>
                    <a:noFill/>
                  </a:tcPr>
                </a:tc>
                <a:tc>
                  <a:txBody>
                    <a:bodyPr/>
                    <a:lstStyle/>
                    <a:p>
                      <a:pPr>
                        <a:buNone/>
                      </a:pPr>
                      <a:r>
                        <a:rPr lang="en-US" sz="1600">
                          <a:solidFill>
                            <a:schemeClr val="bg1"/>
                          </a:solidFill>
                        </a:rPr>
                        <a:t>May cause accidents or data misuse.</a:t>
                      </a:r>
                    </a:p>
                  </a:txBody>
                  <a:tcPr anchor="ctr">
                    <a:lnL>
                      <a:noFill/>
                    </a:lnL>
                    <a:lnR>
                      <a:noFill/>
                    </a:lnR>
                    <a:lnT>
                      <a:noFill/>
                    </a:lnT>
                    <a:lnB>
                      <a:noFill/>
                    </a:lnB>
                    <a:noFill/>
                  </a:tcPr>
                </a:tc>
                <a:tc>
                  <a:txBody>
                    <a:bodyPr/>
                    <a:lstStyle/>
                    <a:p>
                      <a:pPr>
                        <a:buNone/>
                      </a:pPr>
                      <a:r>
                        <a:rPr lang="en-US" sz="1600">
                          <a:solidFill>
                            <a:schemeClr val="bg1"/>
                          </a:solidFill>
                        </a:rPr>
                        <a:t>Follow safety rules and secure data.</a:t>
                      </a:r>
                    </a:p>
                  </a:txBody>
                  <a:tcPr anchor="ctr">
                    <a:lnL>
                      <a:noFill/>
                    </a:lnL>
                    <a:lnR>
                      <a:noFill/>
                    </a:lnR>
                    <a:lnT>
                      <a:noFill/>
                    </a:lnT>
                    <a:lnB>
                      <a:noFill/>
                    </a:lnB>
                    <a:noFill/>
                  </a:tcPr>
                </a:tc>
                <a:extLst>
                  <a:ext uri="{0D108BD9-81ED-4DB2-BD59-A6C34878D82A}">
                    <a16:rowId xmlns:a16="http://schemas.microsoft.com/office/drawing/2014/main" val="878201603"/>
                  </a:ext>
                </a:extLst>
              </a:tr>
            </a:tbl>
          </a:graphicData>
        </a:graphic>
      </p:graphicFrame>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1631449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65AF2-89A4-4191-C225-1555FE40FE7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39DE63C-0DD6-586D-09C0-82E3028AA4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DB9E0284-976D-E2E1-7EA3-B90D7ECC3DB1}"/>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25AEB00-0912-B50C-9547-83325B2F2412}"/>
              </a:ext>
            </a:extLst>
          </p:cNvPr>
          <p:cNvSpPr>
            <a:spLocks noGrp="1"/>
          </p:cNvSpPr>
          <p:nvPr>
            <p:ph type="title"/>
          </p:nvPr>
        </p:nvSpPr>
        <p:spPr>
          <a:xfrm>
            <a:off x="838200" y="365125"/>
            <a:ext cx="10515600" cy="1022003"/>
          </a:xfrm>
        </p:spPr>
        <p:txBody>
          <a:bodyPr>
            <a:normAutofit/>
          </a:bodyPr>
          <a:lstStyle/>
          <a:p>
            <a:r>
              <a:rPr lang="en-US" sz="6000">
                <a:solidFill>
                  <a:schemeClr val="bg1"/>
                </a:solidFill>
              </a:rPr>
              <a:t>Lean Canvas Model</a:t>
            </a:r>
            <a:endParaRPr lang="en-US" sz="6000" dirty="0">
              <a:solidFill>
                <a:schemeClr val="bg1"/>
              </a:solidFill>
            </a:endParaRPr>
          </a:p>
        </p:txBody>
      </p:sp>
      <p:pic>
        <p:nvPicPr>
          <p:cNvPr id="4" name="Content Placeholder 3" descr="A diagram of a drone&#10;&#10;AI-generated content may be incorrect.">
            <a:extLst>
              <a:ext uri="{FF2B5EF4-FFF2-40B4-BE49-F238E27FC236}">
                <a16:creationId xmlns:a16="http://schemas.microsoft.com/office/drawing/2014/main" id="{03215664-A15F-7A2A-8849-2E4B7667AB4C}"/>
              </a:ext>
            </a:extLst>
          </p:cNvPr>
          <p:cNvPicPr>
            <a:picLocks noGrp="1" noChangeAspect="1"/>
          </p:cNvPicPr>
          <p:nvPr>
            <p:ph idx="1"/>
          </p:nvPr>
        </p:nvPicPr>
        <p:blipFill>
          <a:blip r:embed="rId3"/>
          <a:stretch>
            <a:fillRect/>
          </a:stretch>
        </p:blipFill>
        <p:spPr>
          <a:xfrm>
            <a:off x="-99122" y="-3853"/>
            <a:ext cx="12297316" cy="6380975"/>
          </a:xfrm>
          <a:prstGeom prst="rect">
            <a:avLst/>
          </a:prstGeom>
        </p:spPr>
      </p:pic>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707423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5B97B-5F0E-DF12-DACB-6977F48FEEF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34ECF7F-B892-6BEA-03B5-CD3DD63B73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5D65D085-7EF3-6A4E-2ACF-6D9056AB592D}"/>
              </a:ext>
            </a:extLst>
          </p:cNvPr>
          <p:cNvSpPr/>
          <p:nvPr/>
        </p:nvSpPr>
        <p:spPr>
          <a:xfrm>
            <a:off x="-1622"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4F06E3F-025F-1961-3E01-9728110D7726}"/>
              </a:ext>
            </a:extLst>
          </p:cNvPr>
          <p:cNvSpPr>
            <a:spLocks noGrp="1"/>
          </p:cNvSpPr>
          <p:nvPr>
            <p:ph type="title"/>
          </p:nvPr>
        </p:nvSpPr>
        <p:spPr>
          <a:xfrm>
            <a:off x="838200" y="365125"/>
            <a:ext cx="10515600" cy="1022003"/>
          </a:xfrm>
        </p:spPr>
        <p:txBody>
          <a:bodyPr>
            <a:normAutofit/>
          </a:bodyPr>
          <a:lstStyle/>
          <a:p>
            <a:r>
              <a:rPr lang="en-US" sz="6000" b="1" dirty="0">
                <a:solidFill>
                  <a:schemeClr val="bg1"/>
                </a:solidFill>
                <a:latin typeface="Aptos"/>
              </a:rPr>
              <a:t>Rough Prototype - Working</a:t>
            </a:r>
          </a:p>
        </p:txBody>
      </p:sp>
      <p:sp>
        <p:nvSpPr>
          <p:cNvPr id="3" name="Content Placeholder 2">
            <a:extLst>
              <a:ext uri="{FF2B5EF4-FFF2-40B4-BE49-F238E27FC236}">
                <a16:creationId xmlns:a16="http://schemas.microsoft.com/office/drawing/2014/main" id="{43315457-491B-A443-8564-421A903E304E}"/>
              </a:ext>
            </a:extLst>
          </p:cNvPr>
          <p:cNvSpPr>
            <a:spLocks noGrp="1"/>
          </p:cNvSpPr>
          <p:nvPr>
            <p:ph idx="1"/>
          </p:nvPr>
        </p:nvSpPr>
        <p:spPr>
          <a:xfrm>
            <a:off x="838200" y="1391967"/>
            <a:ext cx="10515600" cy="4630117"/>
          </a:xfrm>
        </p:spPr>
        <p:txBody>
          <a:bodyPr vert="horz" lIns="91440" tIns="45720" rIns="91440" bIns="45720" rtlCol="0" anchor="t">
            <a:normAutofit fontScale="70000" lnSpcReduction="20000"/>
          </a:bodyPr>
          <a:lstStyle/>
          <a:p>
            <a:pPr>
              <a:buNone/>
            </a:pPr>
            <a:r>
              <a:rPr lang="en-IN" sz="2400" dirty="0">
                <a:solidFill>
                  <a:schemeClr val="bg1"/>
                </a:solidFill>
                <a:ea typeface="+mn-lt"/>
                <a:cs typeface="+mn-lt"/>
              </a:rPr>
              <a:t>The prototype demonstrates the basic working sequence of the system.</a:t>
            </a:r>
            <a:endParaRPr lang="en-IN">
              <a:solidFill>
                <a:schemeClr val="bg1"/>
              </a:solidFill>
              <a:ea typeface="+mn-lt"/>
              <a:cs typeface="+mn-lt"/>
            </a:endParaRPr>
          </a:p>
          <a:p>
            <a:pPr>
              <a:buNone/>
            </a:pPr>
            <a:endParaRPr lang="en-IN" sz="2400" dirty="0">
              <a:solidFill>
                <a:schemeClr val="bg1"/>
              </a:solidFill>
              <a:ea typeface="+mn-lt"/>
              <a:cs typeface="+mn-lt"/>
            </a:endParaRPr>
          </a:p>
          <a:p>
            <a:pPr marL="0" indent="0">
              <a:buNone/>
            </a:pPr>
            <a:r>
              <a:rPr lang="en-IN" sz="2400">
                <a:solidFill>
                  <a:schemeClr val="bg1"/>
                </a:solidFill>
                <a:ea typeface="+mn-lt"/>
                <a:cs typeface="+mn-lt"/>
              </a:rPr>
              <a:t>Main</a:t>
            </a:r>
            <a:r>
              <a:rPr lang="en-IN" sz="2400" dirty="0">
                <a:solidFill>
                  <a:schemeClr val="bg1"/>
                </a:solidFill>
                <a:ea typeface="+mn-lt"/>
                <a:cs typeface="+mn-lt"/>
              </a:rPr>
              <a:t> components:</a:t>
            </a:r>
            <a:endParaRPr lang="en-IN" dirty="0">
              <a:solidFill>
                <a:schemeClr val="bg1"/>
              </a:solidFill>
              <a:ea typeface="+mn-lt"/>
              <a:cs typeface="+mn-lt"/>
            </a:endParaRPr>
          </a:p>
          <a:p>
            <a:r>
              <a:rPr lang="en-IN" sz="2400">
                <a:solidFill>
                  <a:schemeClr val="bg1"/>
                </a:solidFill>
                <a:ea typeface="+mn-lt"/>
                <a:cs typeface="+mn-lt"/>
              </a:rPr>
              <a:t>Drone frame and propulsion system.</a:t>
            </a:r>
            <a:endParaRPr lang="en-IN"/>
          </a:p>
          <a:p>
            <a:r>
              <a:rPr lang="en-IN" sz="2400">
                <a:solidFill>
                  <a:schemeClr val="bg1"/>
                </a:solidFill>
                <a:ea typeface="+mn-lt"/>
                <a:cs typeface="+mn-lt"/>
              </a:rPr>
              <a:t>Flight controller and battery.</a:t>
            </a:r>
            <a:endParaRPr lang="en-IN">
              <a:solidFill>
                <a:schemeClr val="bg1"/>
              </a:solidFill>
              <a:ea typeface="+mn-lt"/>
              <a:cs typeface="+mn-lt"/>
            </a:endParaRPr>
          </a:p>
          <a:p>
            <a:r>
              <a:rPr lang="en-IN" sz="2400">
                <a:solidFill>
                  <a:schemeClr val="bg1"/>
                </a:solidFill>
                <a:ea typeface="+mn-lt"/>
                <a:cs typeface="+mn-lt"/>
              </a:rPr>
              <a:t>Thermal camera and RGB camera.</a:t>
            </a:r>
            <a:endParaRPr lang="en-IN">
              <a:solidFill>
                <a:schemeClr val="bg1"/>
              </a:solidFill>
              <a:ea typeface="+mn-lt"/>
              <a:cs typeface="+mn-lt"/>
            </a:endParaRPr>
          </a:p>
          <a:p>
            <a:r>
              <a:rPr lang="en-IN" sz="2400">
                <a:solidFill>
                  <a:schemeClr val="bg1"/>
                </a:solidFill>
                <a:ea typeface="+mn-lt"/>
                <a:cs typeface="+mn-lt"/>
              </a:rPr>
              <a:t>GPS/GNSS module and IMU.</a:t>
            </a:r>
            <a:endParaRPr lang="en-IN"/>
          </a:p>
          <a:p>
            <a:r>
              <a:rPr lang="en-IN" sz="2400">
                <a:solidFill>
                  <a:schemeClr val="bg1"/>
                </a:solidFill>
                <a:ea typeface="+mn-lt"/>
                <a:cs typeface="+mn-lt"/>
              </a:rPr>
              <a:t>Onboard processing unit.</a:t>
            </a:r>
            <a:endParaRPr lang="en-IN"/>
          </a:p>
          <a:p>
            <a:r>
              <a:rPr lang="en-IN" sz="2400">
                <a:solidFill>
                  <a:schemeClr val="bg1"/>
                </a:solidFill>
                <a:ea typeface="+mn-lt"/>
                <a:cs typeface="+mn-lt"/>
              </a:rPr>
              <a:t>Wireless communication module.</a:t>
            </a:r>
            <a:endParaRPr lang="en-IN"/>
          </a:p>
          <a:p>
            <a:r>
              <a:rPr lang="en-IN" sz="2400">
                <a:solidFill>
                  <a:schemeClr val="bg1"/>
                </a:solidFill>
                <a:ea typeface="+mn-lt"/>
                <a:cs typeface="+mn-lt"/>
              </a:rPr>
              <a:t>Camera mount or gimbal.</a:t>
            </a:r>
            <a:endParaRPr lang="en-IN"/>
          </a:p>
          <a:p>
            <a:r>
              <a:rPr lang="en-IN" sz="2400">
                <a:solidFill>
                  <a:schemeClr val="bg1"/>
                </a:solidFill>
                <a:ea typeface="+mn-lt"/>
                <a:cs typeface="+mn-lt"/>
              </a:rPr>
              <a:t>Ground station for receiving and displaying data.</a:t>
            </a:r>
            <a:endParaRPr lang="en-IN">
              <a:solidFill>
                <a:schemeClr val="bg1"/>
              </a:solidFill>
              <a:ea typeface="+mn-lt"/>
              <a:cs typeface="+mn-lt"/>
            </a:endParaRPr>
          </a:p>
          <a:p>
            <a:pPr>
              <a:buNone/>
            </a:pPr>
            <a:endParaRPr lang="en-IN" sz="2400" b="1" dirty="0">
              <a:solidFill>
                <a:schemeClr val="bg1"/>
              </a:solidFill>
              <a:ea typeface="+mn-lt"/>
              <a:cs typeface="+mn-lt"/>
            </a:endParaRPr>
          </a:p>
          <a:p>
            <a:pPr>
              <a:buNone/>
            </a:pPr>
            <a:r>
              <a:rPr lang="en-IN" sz="2400" b="1">
                <a:solidFill>
                  <a:schemeClr val="bg1"/>
                </a:solidFill>
                <a:ea typeface="+mn-lt"/>
                <a:cs typeface="+mn-lt"/>
              </a:rPr>
              <a:t>Flow:</a:t>
            </a:r>
            <a:endParaRPr lang="en-IN">
              <a:solidFill>
                <a:schemeClr val="bg1"/>
              </a:solidFill>
            </a:endParaRPr>
          </a:p>
          <a:p>
            <a:pPr>
              <a:buNone/>
            </a:pPr>
            <a:r>
              <a:rPr lang="en-IN" sz="2400" dirty="0">
                <a:solidFill>
                  <a:schemeClr val="bg1"/>
                </a:solidFill>
                <a:ea typeface="+mn-lt"/>
                <a:cs typeface="+mn-lt"/>
              </a:rPr>
              <a:t>Drone Launch → Area Scan → Survivor Detection → GPS Location → Data Transmission → Rescue Support</a:t>
            </a:r>
            <a:endParaRPr lang="en-IN" dirty="0">
              <a:solidFill>
                <a:schemeClr val="bg1"/>
              </a:solidFill>
            </a:endParaRPr>
          </a:p>
          <a:p>
            <a:pPr>
              <a:buNone/>
            </a:pPr>
            <a:endParaRPr lang="en-IN" sz="2400"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3766287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3461F-3CC6-49CA-66C5-DC1D20F86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397A0-7CD7-5CC8-5B42-7D5538BD7C64}"/>
              </a:ext>
            </a:extLst>
          </p:cNvPr>
          <p:cNvSpPr>
            <a:spLocks noGrp="1"/>
          </p:cNvSpPr>
          <p:nvPr>
            <p:ph type="title"/>
          </p:nvPr>
        </p:nvSpPr>
        <p:spPr>
          <a:xfrm>
            <a:off x="838200" y="365125"/>
            <a:ext cx="10515600" cy="1022003"/>
          </a:xfrm>
        </p:spPr>
        <p:txBody>
          <a:bodyPr>
            <a:normAutofit/>
          </a:bodyPr>
          <a:lstStyle/>
          <a:p>
            <a:r>
              <a:rPr lang="en-US" sz="6000" b="1" i="1" dirty="0">
                <a:solidFill>
                  <a:schemeClr val="bg1"/>
                </a:solidFill>
                <a:latin typeface="+mn-lt"/>
              </a:rPr>
              <a:t>Rough Prototype</a:t>
            </a:r>
          </a:p>
        </p:txBody>
      </p:sp>
      <p:pic>
        <p:nvPicPr>
          <p:cNvPr id="4" name="Content Placeholder 3">
            <a:extLst>
              <a:ext uri="{FF2B5EF4-FFF2-40B4-BE49-F238E27FC236}">
                <a16:creationId xmlns:a16="http://schemas.microsoft.com/office/drawing/2014/main" id="{58506AB5-0196-BD64-05D3-95F7BCE77B06}"/>
              </a:ext>
            </a:extLst>
          </p:cNvPr>
          <p:cNvPicPr>
            <a:picLocks noGrp="1" noChangeAspect="1"/>
          </p:cNvPicPr>
          <p:nvPr>
            <p:ph idx="1"/>
          </p:nvPr>
        </p:nvPicPr>
        <p:blipFill>
          <a:blip r:embed="rId2"/>
          <a:stretch>
            <a:fillRect/>
          </a:stretch>
        </p:blipFill>
        <p:spPr>
          <a:xfrm>
            <a:off x="1239" y="7919"/>
            <a:ext cx="12189521" cy="6351238"/>
          </a:xfrm>
          <a:prstGeom prst="rect">
            <a:avLst/>
          </a:prstGeom>
        </p:spPr>
      </p:pic>
      <p:sp>
        <p:nvSpPr>
          <p:cNvPr id="5" name="Rectangle 4"/>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395956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64A62-4484-11A5-ED22-F72E6C7E910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4A98957-39A0-59C0-899D-AA67712634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73B49F37-41AB-84CB-00F3-5CF9A8DB0C72}"/>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2AD1B0E-6C4C-E6EE-F219-152B3B7E30D0}"/>
              </a:ext>
            </a:extLst>
          </p:cNvPr>
          <p:cNvSpPr>
            <a:spLocks noGrp="1"/>
          </p:cNvSpPr>
          <p:nvPr>
            <p:ph type="title"/>
          </p:nvPr>
        </p:nvSpPr>
        <p:spPr>
          <a:xfrm>
            <a:off x="838200" y="365125"/>
            <a:ext cx="10515600" cy="1022003"/>
          </a:xfrm>
        </p:spPr>
        <p:txBody>
          <a:bodyPr>
            <a:normAutofit/>
          </a:bodyPr>
          <a:lstStyle/>
          <a:p>
            <a:r>
              <a:rPr lang="en-US" sz="6000" dirty="0">
                <a:solidFill>
                  <a:schemeClr val="bg1"/>
                </a:solidFill>
              </a:rPr>
              <a:t>Capital and </a:t>
            </a:r>
            <a:r>
              <a:rPr lang="en-US" sz="6000" dirty="0" err="1">
                <a:solidFill>
                  <a:schemeClr val="bg1"/>
                </a:solidFill>
              </a:rPr>
              <a:t>Finanace</a:t>
            </a:r>
            <a:endParaRPr lang="en-US" dirty="0" err="1">
              <a:solidFill>
                <a:schemeClr val="bg1"/>
              </a:solidFill>
            </a:endParaRPr>
          </a:p>
        </p:txBody>
      </p:sp>
      <p:graphicFrame>
        <p:nvGraphicFramePr>
          <p:cNvPr id="5" name="Content Placeholder 4">
            <a:extLst>
              <a:ext uri="{FF2B5EF4-FFF2-40B4-BE49-F238E27FC236}">
                <a16:creationId xmlns:a16="http://schemas.microsoft.com/office/drawing/2014/main" id="{97D46257-E934-5056-B234-68176A3391DC}"/>
              </a:ext>
            </a:extLst>
          </p:cNvPr>
          <p:cNvGraphicFramePr>
            <a:graphicFrameLocks noGrp="1"/>
          </p:cNvGraphicFramePr>
          <p:nvPr>
            <p:ph idx="1"/>
            <p:extLst>
              <p:ext uri="{D42A27DB-BD31-4B8C-83A1-F6EECF244321}">
                <p14:modId xmlns:p14="http://schemas.microsoft.com/office/powerpoint/2010/main" val="3180055331"/>
              </p:ext>
            </p:extLst>
          </p:nvPr>
        </p:nvGraphicFramePr>
        <p:xfrm>
          <a:off x="678366" y="1201900"/>
          <a:ext cx="10515600" cy="2926080"/>
        </p:xfrm>
        <a:graphic>
          <a:graphicData uri="http://schemas.openxmlformats.org/drawingml/2006/table">
            <a:tbl>
              <a:tblPr bandRow="1">
                <a:tableStyleId>{5C22544A-7EE6-4342-B048-85BDC9FD1C3A}</a:tableStyleId>
              </a:tblPr>
              <a:tblGrid>
                <a:gridCol w="5257800">
                  <a:extLst>
                    <a:ext uri="{9D8B030D-6E8A-4147-A177-3AD203B41FA5}">
                      <a16:colId xmlns:a16="http://schemas.microsoft.com/office/drawing/2014/main" val="2510032307"/>
                    </a:ext>
                  </a:extLst>
                </a:gridCol>
                <a:gridCol w="5257800">
                  <a:extLst>
                    <a:ext uri="{9D8B030D-6E8A-4147-A177-3AD203B41FA5}">
                      <a16:colId xmlns:a16="http://schemas.microsoft.com/office/drawing/2014/main" val="1533473443"/>
                    </a:ext>
                  </a:extLst>
                </a:gridCol>
              </a:tblGrid>
              <a:tr h="0">
                <a:tc>
                  <a:txBody>
                    <a:bodyPr/>
                    <a:lstStyle/>
                    <a:p>
                      <a:pPr>
                        <a:buNone/>
                      </a:pPr>
                      <a:r>
                        <a:rPr lang="en-US">
                          <a:solidFill>
                            <a:schemeClr val="bg1"/>
                          </a:solidFill>
                        </a:rPr>
                        <a:t>Component</a:t>
                      </a:r>
                    </a:p>
                  </a:txBody>
                  <a:tcPr anchor="ctr">
                    <a:lnL>
                      <a:noFill/>
                    </a:lnL>
                    <a:lnR>
                      <a:noFill/>
                    </a:lnR>
                    <a:lnT>
                      <a:noFill/>
                    </a:lnT>
                    <a:lnB>
                      <a:noFill/>
                    </a:lnB>
                    <a:noFill/>
                  </a:tcPr>
                </a:tc>
                <a:tc>
                  <a:txBody>
                    <a:bodyPr/>
                    <a:lstStyle/>
                    <a:p>
                      <a:pPr>
                        <a:buNone/>
                      </a:pPr>
                      <a:r>
                        <a:rPr lang="en-US">
                          <a:solidFill>
                            <a:schemeClr val="bg1"/>
                          </a:solidFill>
                        </a:rPr>
                        <a:t>Estimated cost</a:t>
                      </a:r>
                    </a:p>
                  </a:txBody>
                  <a:tcPr anchor="ctr">
                    <a:lnL>
                      <a:noFill/>
                    </a:lnL>
                    <a:lnR>
                      <a:noFill/>
                    </a:lnR>
                    <a:lnT>
                      <a:noFill/>
                    </a:lnT>
                    <a:lnB>
                      <a:noFill/>
                    </a:lnB>
                    <a:noFill/>
                  </a:tcPr>
                </a:tc>
                <a:extLst>
                  <a:ext uri="{0D108BD9-81ED-4DB2-BD59-A6C34878D82A}">
                    <a16:rowId xmlns:a16="http://schemas.microsoft.com/office/drawing/2014/main" val="1551767028"/>
                  </a:ext>
                </a:extLst>
              </a:tr>
              <a:tr h="0">
                <a:tc>
                  <a:txBody>
                    <a:bodyPr/>
                    <a:lstStyle/>
                    <a:p>
                      <a:pPr>
                        <a:buNone/>
                      </a:pPr>
                      <a:r>
                        <a:rPr lang="en-US">
                          <a:solidFill>
                            <a:schemeClr val="bg1"/>
                          </a:solidFill>
                        </a:rPr>
                        <a:t>Drone hardware</a:t>
                      </a:r>
                    </a:p>
                  </a:txBody>
                  <a:tcPr anchor="ctr">
                    <a:lnL>
                      <a:noFill/>
                    </a:lnL>
                    <a:lnR>
                      <a:noFill/>
                    </a:lnR>
                    <a:lnT>
                      <a:noFill/>
                    </a:lnT>
                    <a:lnB>
                      <a:noFill/>
                    </a:lnB>
                    <a:noFill/>
                  </a:tcPr>
                </a:tc>
                <a:tc>
                  <a:txBody>
                    <a:bodyPr/>
                    <a:lstStyle/>
                    <a:p>
                      <a:pPr>
                        <a:buNone/>
                      </a:pPr>
                      <a:r>
                        <a:rPr lang="en-US">
                          <a:solidFill>
                            <a:schemeClr val="bg1"/>
                          </a:solidFill>
                        </a:rPr>
                        <a:t>₹15,000</a:t>
                      </a:r>
                    </a:p>
                  </a:txBody>
                  <a:tcPr anchor="ctr">
                    <a:lnL>
                      <a:noFill/>
                    </a:lnL>
                    <a:lnR>
                      <a:noFill/>
                    </a:lnR>
                    <a:lnT>
                      <a:noFill/>
                    </a:lnT>
                    <a:lnB>
                      <a:noFill/>
                    </a:lnB>
                    <a:noFill/>
                  </a:tcPr>
                </a:tc>
                <a:extLst>
                  <a:ext uri="{0D108BD9-81ED-4DB2-BD59-A6C34878D82A}">
                    <a16:rowId xmlns:a16="http://schemas.microsoft.com/office/drawing/2014/main" val="321212666"/>
                  </a:ext>
                </a:extLst>
              </a:tr>
              <a:tr h="0">
                <a:tc>
                  <a:txBody>
                    <a:bodyPr/>
                    <a:lstStyle/>
                    <a:p>
                      <a:pPr>
                        <a:buNone/>
                      </a:pPr>
                      <a:r>
                        <a:rPr lang="en-US">
                          <a:solidFill>
                            <a:schemeClr val="bg1"/>
                          </a:solidFill>
                        </a:rPr>
                        <a:t>Thermal and RGB cameras</a:t>
                      </a:r>
                    </a:p>
                  </a:txBody>
                  <a:tcPr anchor="ctr">
                    <a:lnL>
                      <a:noFill/>
                    </a:lnL>
                    <a:lnR>
                      <a:noFill/>
                    </a:lnR>
                    <a:lnT>
                      <a:noFill/>
                    </a:lnT>
                    <a:lnB>
                      <a:noFill/>
                    </a:lnB>
                    <a:noFill/>
                  </a:tcPr>
                </a:tc>
                <a:tc>
                  <a:txBody>
                    <a:bodyPr/>
                    <a:lstStyle/>
                    <a:p>
                      <a:pPr>
                        <a:buNone/>
                      </a:pPr>
                      <a:r>
                        <a:rPr lang="en-US">
                          <a:solidFill>
                            <a:schemeClr val="bg1"/>
                          </a:solidFill>
                        </a:rPr>
                        <a:t>₹25,000</a:t>
                      </a:r>
                    </a:p>
                  </a:txBody>
                  <a:tcPr anchor="ctr">
                    <a:lnL>
                      <a:noFill/>
                    </a:lnL>
                    <a:lnR>
                      <a:noFill/>
                    </a:lnR>
                    <a:lnT>
                      <a:noFill/>
                    </a:lnT>
                    <a:lnB>
                      <a:noFill/>
                    </a:lnB>
                    <a:noFill/>
                  </a:tcPr>
                </a:tc>
                <a:extLst>
                  <a:ext uri="{0D108BD9-81ED-4DB2-BD59-A6C34878D82A}">
                    <a16:rowId xmlns:a16="http://schemas.microsoft.com/office/drawing/2014/main" val="777940183"/>
                  </a:ext>
                </a:extLst>
              </a:tr>
              <a:tr h="0">
                <a:tc>
                  <a:txBody>
                    <a:bodyPr/>
                    <a:lstStyle/>
                    <a:p>
                      <a:pPr>
                        <a:buNone/>
                      </a:pPr>
                      <a:r>
                        <a:rPr lang="en-US">
                          <a:solidFill>
                            <a:schemeClr val="bg1"/>
                          </a:solidFill>
                        </a:rPr>
                        <a:t>GPS and communication modules</a:t>
                      </a:r>
                    </a:p>
                  </a:txBody>
                  <a:tcPr anchor="ctr">
                    <a:lnL>
                      <a:noFill/>
                    </a:lnL>
                    <a:lnR>
                      <a:noFill/>
                    </a:lnR>
                    <a:lnT>
                      <a:noFill/>
                    </a:lnT>
                    <a:lnB>
                      <a:noFill/>
                    </a:lnB>
                    <a:noFill/>
                  </a:tcPr>
                </a:tc>
                <a:tc>
                  <a:txBody>
                    <a:bodyPr/>
                    <a:lstStyle/>
                    <a:p>
                      <a:pPr>
                        <a:buNone/>
                      </a:pPr>
                      <a:r>
                        <a:rPr lang="en-US">
                          <a:solidFill>
                            <a:schemeClr val="bg1"/>
                          </a:solidFill>
                        </a:rPr>
                        <a:t>₹5,000</a:t>
                      </a:r>
                    </a:p>
                  </a:txBody>
                  <a:tcPr anchor="ctr">
                    <a:lnL>
                      <a:noFill/>
                    </a:lnL>
                    <a:lnR>
                      <a:noFill/>
                    </a:lnR>
                    <a:lnT>
                      <a:noFill/>
                    </a:lnT>
                    <a:lnB>
                      <a:noFill/>
                    </a:lnB>
                    <a:noFill/>
                  </a:tcPr>
                </a:tc>
                <a:extLst>
                  <a:ext uri="{0D108BD9-81ED-4DB2-BD59-A6C34878D82A}">
                    <a16:rowId xmlns:a16="http://schemas.microsoft.com/office/drawing/2014/main" val="2334839778"/>
                  </a:ext>
                </a:extLst>
              </a:tr>
              <a:tr h="0">
                <a:tc>
                  <a:txBody>
                    <a:bodyPr/>
                    <a:lstStyle/>
                    <a:p>
                      <a:pPr>
                        <a:buNone/>
                      </a:pPr>
                      <a:r>
                        <a:rPr lang="en-US">
                          <a:solidFill>
                            <a:schemeClr val="bg1"/>
                          </a:solidFill>
                        </a:rPr>
                        <a:t>Processing unit and controller</a:t>
                      </a:r>
                    </a:p>
                  </a:txBody>
                  <a:tcPr anchor="ctr">
                    <a:lnL>
                      <a:noFill/>
                    </a:lnL>
                    <a:lnR>
                      <a:noFill/>
                    </a:lnR>
                    <a:lnT>
                      <a:noFill/>
                    </a:lnT>
                    <a:lnB>
                      <a:noFill/>
                    </a:lnB>
                    <a:noFill/>
                  </a:tcPr>
                </a:tc>
                <a:tc>
                  <a:txBody>
                    <a:bodyPr/>
                    <a:lstStyle/>
                    <a:p>
                      <a:pPr>
                        <a:buNone/>
                      </a:pPr>
                      <a:r>
                        <a:rPr lang="en-US">
                          <a:solidFill>
                            <a:schemeClr val="bg1"/>
                          </a:solidFill>
                        </a:rPr>
                        <a:t>₹10,000</a:t>
                      </a:r>
                    </a:p>
                  </a:txBody>
                  <a:tcPr anchor="ctr">
                    <a:lnL>
                      <a:noFill/>
                    </a:lnL>
                    <a:lnR>
                      <a:noFill/>
                    </a:lnR>
                    <a:lnT>
                      <a:noFill/>
                    </a:lnT>
                    <a:lnB>
                      <a:noFill/>
                    </a:lnB>
                    <a:noFill/>
                  </a:tcPr>
                </a:tc>
                <a:extLst>
                  <a:ext uri="{0D108BD9-81ED-4DB2-BD59-A6C34878D82A}">
                    <a16:rowId xmlns:a16="http://schemas.microsoft.com/office/drawing/2014/main" val="2084299103"/>
                  </a:ext>
                </a:extLst>
              </a:tr>
              <a:tr h="0">
                <a:tc>
                  <a:txBody>
                    <a:bodyPr/>
                    <a:lstStyle/>
                    <a:p>
                      <a:pPr>
                        <a:buNone/>
                      </a:pPr>
                      <a:r>
                        <a:rPr lang="en-US">
                          <a:solidFill>
                            <a:schemeClr val="bg1"/>
                          </a:solidFill>
                        </a:rPr>
                        <a:t>Software development</a:t>
                      </a:r>
                    </a:p>
                  </a:txBody>
                  <a:tcPr anchor="ctr">
                    <a:lnL>
                      <a:noFill/>
                    </a:lnL>
                    <a:lnR>
                      <a:noFill/>
                    </a:lnR>
                    <a:lnT>
                      <a:noFill/>
                    </a:lnT>
                    <a:lnB>
                      <a:noFill/>
                    </a:lnB>
                    <a:noFill/>
                  </a:tcPr>
                </a:tc>
                <a:tc>
                  <a:txBody>
                    <a:bodyPr/>
                    <a:lstStyle/>
                    <a:p>
                      <a:pPr>
                        <a:buNone/>
                      </a:pPr>
                      <a:r>
                        <a:rPr lang="en-US">
                          <a:solidFill>
                            <a:schemeClr val="bg1"/>
                          </a:solidFill>
                        </a:rPr>
                        <a:t>₹5,000</a:t>
                      </a:r>
                    </a:p>
                  </a:txBody>
                  <a:tcPr anchor="ctr">
                    <a:lnL>
                      <a:noFill/>
                    </a:lnL>
                    <a:lnR>
                      <a:noFill/>
                    </a:lnR>
                    <a:lnT>
                      <a:noFill/>
                    </a:lnT>
                    <a:lnB>
                      <a:noFill/>
                    </a:lnB>
                    <a:noFill/>
                  </a:tcPr>
                </a:tc>
                <a:extLst>
                  <a:ext uri="{0D108BD9-81ED-4DB2-BD59-A6C34878D82A}">
                    <a16:rowId xmlns:a16="http://schemas.microsoft.com/office/drawing/2014/main" val="4268515522"/>
                  </a:ext>
                </a:extLst>
              </a:tr>
              <a:tr h="0">
                <a:tc>
                  <a:txBody>
                    <a:bodyPr/>
                    <a:lstStyle/>
                    <a:p>
                      <a:pPr>
                        <a:buNone/>
                      </a:pPr>
                      <a:r>
                        <a:rPr lang="en-US">
                          <a:solidFill>
                            <a:schemeClr val="bg1"/>
                          </a:solidFill>
                        </a:rPr>
                        <a:t>Testing and maintenance</a:t>
                      </a:r>
                    </a:p>
                  </a:txBody>
                  <a:tcPr anchor="ctr">
                    <a:lnL>
                      <a:noFill/>
                    </a:lnL>
                    <a:lnR>
                      <a:noFill/>
                    </a:lnR>
                    <a:lnT>
                      <a:noFill/>
                    </a:lnT>
                    <a:lnB>
                      <a:noFill/>
                    </a:lnB>
                    <a:noFill/>
                  </a:tcPr>
                </a:tc>
                <a:tc>
                  <a:txBody>
                    <a:bodyPr/>
                    <a:lstStyle/>
                    <a:p>
                      <a:pPr>
                        <a:buNone/>
                      </a:pPr>
                      <a:r>
                        <a:rPr lang="en-US">
                          <a:solidFill>
                            <a:schemeClr val="bg1"/>
                          </a:solidFill>
                        </a:rPr>
                        <a:t>₹5,000</a:t>
                      </a:r>
                    </a:p>
                  </a:txBody>
                  <a:tcPr anchor="ctr">
                    <a:lnL>
                      <a:noFill/>
                    </a:lnL>
                    <a:lnR>
                      <a:noFill/>
                    </a:lnR>
                    <a:lnT>
                      <a:noFill/>
                    </a:lnT>
                    <a:lnB>
                      <a:noFill/>
                    </a:lnB>
                    <a:noFill/>
                  </a:tcPr>
                </a:tc>
                <a:extLst>
                  <a:ext uri="{0D108BD9-81ED-4DB2-BD59-A6C34878D82A}">
                    <a16:rowId xmlns:a16="http://schemas.microsoft.com/office/drawing/2014/main" val="2583302055"/>
                  </a:ext>
                </a:extLst>
              </a:tr>
              <a:tr h="0">
                <a:tc>
                  <a:txBody>
                    <a:bodyPr/>
                    <a:lstStyle/>
                    <a:p>
                      <a:pPr>
                        <a:buNone/>
                      </a:pPr>
                      <a:r>
                        <a:rPr lang="en-US">
                          <a:solidFill>
                            <a:schemeClr val="bg1"/>
                          </a:solidFill>
                        </a:rPr>
                        <a:t>Total estimated capital</a:t>
                      </a:r>
                    </a:p>
                  </a:txBody>
                  <a:tcPr anchor="ctr">
                    <a:lnL>
                      <a:noFill/>
                    </a:lnL>
                    <a:lnR>
                      <a:noFill/>
                    </a:lnR>
                    <a:lnT>
                      <a:noFill/>
                    </a:lnT>
                    <a:lnB>
                      <a:noFill/>
                    </a:lnB>
                    <a:noFill/>
                  </a:tcPr>
                </a:tc>
                <a:tc>
                  <a:txBody>
                    <a:bodyPr/>
                    <a:lstStyle/>
                    <a:p>
                      <a:pPr>
                        <a:buNone/>
                      </a:pPr>
                      <a:r>
                        <a:rPr lang="en-US">
                          <a:solidFill>
                            <a:schemeClr val="bg1"/>
                          </a:solidFill>
                        </a:rPr>
                        <a:t>₹65,000</a:t>
                      </a:r>
                    </a:p>
                  </a:txBody>
                  <a:tcPr anchor="ctr">
                    <a:lnL>
                      <a:noFill/>
                    </a:lnL>
                    <a:lnR>
                      <a:noFill/>
                    </a:lnR>
                    <a:lnT>
                      <a:noFill/>
                    </a:lnT>
                    <a:lnB>
                      <a:noFill/>
                    </a:lnB>
                    <a:noFill/>
                  </a:tcPr>
                </a:tc>
                <a:extLst>
                  <a:ext uri="{0D108BD9-81ED-4DB2-BD59-A6C34878D82A}">
                    <a16:rowId xmlns:a16="http://schemas.microsoft.com/office/drawing/2014/main" val="2025935400"/>
                  </a:ext>
                </a:extLst>
              </a:tr>
            </a:tbl>
          </a:graphicData>
        </a:graphic>
      </p:graphicFrame>
      <p:sp>
        <p:nvSpPr>
          <p:cNvPr id="8" name="TextBox 7">
            <a:extLst>
              <a:ext uri="{FF2B5EF4-FFF2-40B4-BE49-F238E27FC236}">
                <a16:creationId xmlns:a16="http://schemas.microsoft.com/office/drawing/2014/main" id="{CB04CC5C-652E-1EB7-7DAE-301075FE9AD7}"/>
              </a:ext>
            </a:extLst>
          </p:cNvPr>
          <p:cNvSpPr txBox="1"/>
          <p:nvPr/>
        </p:nvSpPr>
        <p:spPr>
          <a:xfrm>
            <a:off x="523860" y="4019023"/>
            <a:ext cx="1114552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The project requires funding for hardware, sensing components, software, and testing.</a:t>
            </a:r>
            <a:endParaRPr lang="en-US" dirty="0">
              <a:solidFill>
                <a:schemeClr val="bg1"/>
              </a:solidFill>
            </a:endParaRPr>
          </a:p>
          <a:p>
            <a:r>
              <a:rPr lang="en-US">
                <a:solidFill>
                  <a:schemeClr val="bg1"/>
                </a:solidFill>
              </a:rPr>
              <a:t>Estimated project budget:</a:t>
            </a:r>
            <a:endParaRPr lang="en-US" dirty="0">
              <a:solidFill>
                <a:schemeClr val="bg1"/>
              </a:solidFill>
            </a:endParaRPr>
          </a:p>
          <a:p>
            <a:endParaRPr lang="en-US" dirty="0">
              <a:solidFill>
                <a:schemeClr val="bg1"/>
              </a:solidFill>
            </a:endParaRPr>
          </a:p>
          <a:p>
            <a:r>
              <a:rPr lang="en-US">
                <a:solidFill>
                  <a:schemeClr val="bg1"/>
                </a:solidFill>
              </a:rPr>
              <a:t>Potential funding sources:</a:t>
            </a:r>
            <a:endParaRPr lang="en-US" dirty="0">
              <a:solidFill>
                <a:schemeClr val="bg1"/>
              </a:solidFill>
            </a:endParaRPr>
          </a:p>
          <a:p>
            <a:pPr marL="228600" indent="-228600">
              <a:buFont typeface=""/>
              <a:buChar char="•"/>
            </a:pPr>
            <a:r>
              <a:rPr lang="en-US">
                <a:solidFill>
                  <a:schemeClr val="bg1"/>
                </a:solidFill>
              </a:rPr>
              <a:t>College project funding.</a:t>
            </a:r>
            <a:endParaRPr lang="en-US" dirty="0">
              <a:solidFill>
                <a:schemeClr val="bg1"/>
              </a:solidFill>
            </a:endParaRPr>
          </a:p>
          <a:p>
            <a:pPr marL="228600" indent="-228600">
              <a:buFont typeface=""/>
              <a:buChar char="•"/>
            </a:pPr>
            <a:r>
              <a:rPr lang="en-US">
                <a:solidFill>
                  <a:schemeClr val="bg1"/>
                </a:solidFill>
              </a:rPr>
              <a:t>Government grants and schemes.</a:t>
            </a:r>
            <a:endParaRPr lang="en-US" dirty="0">
              <a:solidFill>
                <a:schemeClr val="bg1"/>
              </a:solidFill>
            </a:endParaRPr>
          </a:p>
          <a:p>
            <a:pPr marL="228600" indent="-228600">
              <a:buFont typeface=""/>
              <a:buChar char="•"/>
            </a:pPr>
            <a:r>
              <a:rPr lang="en-US">
                <a:solidFill>
                  <a:schemeClr val="bg1"/>
                </a:solidFill>
              </a:rPr>
              <a:t>Startup funding and investors.</a:t>
            </a:r>
            <a:endParaRPr lang="en-US" dirty="0">
              <a:solidFill>
                <a:schemeClr val="bg1"/>
              </a:solidFill>
            </a:endParaRPr>
          </a:p>
          <a:p>
            <a:pPr marL="228600" indent="-228600">
              <a:buFont typeface=""/>
              <a:buChar char="•"/>
            </a:pPr>
            <a:r>
              <a:rPr lang="en-US" dirty="0">
                <a:solidFill>
                  <a:schemeClr val="bg1"/>
                </a:solidFill>
              </a:rPr>
              <a:t>Partnerships with disaster-management </a:t>
            </a:r>
            <a:r>
              <a:rPr lang="en-US" dirty="0" err="1">
                <a:solidFill>
                  <a:schemeClr val="bg1"/>
                </a:solidFill>
              </a:rPr>
              <a:t>organisations</a:t>
            </a:r>
            <a:r>
              <a:rPr lang="en-US" dirty="0">
                <a:solidFill>
                  <a:schemeClr val="bg1"/>
                </a:solidFill>
              </a:rPr>
              <a:t>.</a:t>
            </a:r>
          </a:p>
          <a:p>
            <a:pPr algn="ctr"/>
            <a:endParaRPr lang="en-US" dirty="0">
              <a:solidFill>
                <a:schemeClr val="bg1"/>
              </a:solidFill>
            </a:endParaRPr>
          </a:p>
        </p:txBody>
      </p:sp>
      <p:sp>
        <p:nvSpPr>
          <p:cNvPr id="9" name="Rectangle 8"/>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54558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1" name="Group 40">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42" name="Freeform: Shape 41">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2FB5D82-1C92-CEDE-1D71-C0A25F42E462}"/>
              </a:ext>
            </a:extLst>
          </p:cNvPr>
          <p:cNvSpPr>
            <a:spLocks noGrp="1"/>
          </p:cNvSpPr>
          <p:nvPr>
            <p:ph type="title"/>
          </p:nvPr>
        </p:nvSpPr>
        <p:spPr>
          <a:xfrm>
            <a:off x="640080" y="1243013"/>
            <a:ext cx="3855720" cy="4371974"/>
          </a:xfrm>
        </p:spPr>
        <p:txBody>
          <a:bodyPr>
            <a:normAutofit/>
          </a:bodyPr>
          <a:lstStyle/>
          <a:p>
            <a:r>
              <a:rPr lang="en-US" sz="2800">
                <a:solidFill>
                  <a:schemeClr val="tx2"/>
                </a:solidFill>
              </a:rPr>
              <a:t>Demonstration  Scenario</a:t>
            </a:r>
          </a:p>
        </p:txBody>
      </p:sp>
      <p:sp>
        <p:nvSpPr>
          <p:cNvPr id="3" name="Content Placeholder 2">
            <a:extLst>
              <a:ext uri="{FF2B5EF4-FFF2-40B4-BE49-F238E27FC236}">
                <a16:creationId xmlns:a16="http://schemas.microsoft.com/office/drawing/2014/main" id="{B1EEE305-8AFD-53FD-C7D4-6F4B8F5E50FF}"/>
              </a:ext>
            </a:extLst>
          </p:cNvPr>
          <p:cNvSpPr>
            <a:spLocks noGrp="1"/>
          </p:cNvSpPr>
          <p:nvPr>
            <p:ph idx="1"/>
          </p:nvPr>
        </p:nvSpPr>
        <p:spPr>
          <a:xfrm>
            <a:off x="6172200" y="804672"/>
            <a:ext cx="5221224" cy="5230368"/>
          </a:xfrm>
        </p:spPr>
        <p:txBody>
          <a:bodyPr vert="horz" lIns="91440" tIns="45720" rIns="91440" bIns="45720" rtlCol="0" anchor="ctr">
            <a:normAutofit/>
          </a:bodyPr>
          <a:lstStyle/>
          <a:p>
            <a:pPr>
              <a:buNone/>
            </a:pPr>
            <a:r>
              <a:rPr lang="en-US" sz="1800" b="1">
                <a:solidFill>
                  <a:schemeClr val="tx2"/>
                </a:solidFill>
                <a:ea typeface="+mn-lt"/>
                <a:cs typeface="+mn-lt"/>
              </a:rPr>
              <a:t>Scenario: Flooded Remote Village</a:t>
            </a:r>
            <a:endParaRPr lang="en-US" sz="1800">
              <a:solidFill>
                <a:schemeClr val="tx2"/>
              </a:solidFill>
            </a:endParaRPr>
          </a:p>
          <a:p>
            <a:pPr>
              <a:buNone/>
            </a:pPr>
            <a:r>
              <a:rPr lang="en-US" sz="1800">
                <a:solidFill>
                  <a:schemeClr val="tx2"/>
                </a:solidFill>
                <a:ea typeface="+mn-lt"/>
                <a:cs typeface="+mn-lt"/>
              </a:rPr>
              <a:t>A village is affected by heavy flooding. Roads are blocked, and rescue teams are unable to enter the area safely. Some people may be trapped on rooftops or inside damaged buildings.</a:t>
            </a:r>
            <a:endParaRPr lang="en-US" sz="1800">
              <a:solidFill>
                <a:schemeClr val="tx2"/>
              </a:solidFill>
            </a:endParaRPr>
          </a:p>
          <a:p>
            <a:pPr>
              <a:buNone/>
            </a:pPr>
            <a:endParaRPr lang="en-US" sz="1800">
              <a:solidFill>
                <a:schemeClr val="tx2"/>
              </a:solidFill>
            </a:endParaRPr>
          </a:p>
          <a:p>
            <a:pPr>
              <a:buNone/>
            </a:pPr>
            <a:r>
              <a:rPr lang="en-US" sz="1800">
                <a:solidFill>
                  <a:schemeClr val="tx2"/>
                </a:solidFill>
                <a:ea typeface="+mn-lt"/>
                <a:cs typeface="+mn-lt"/>
              </a:rPr>
              <a:t>The disaster response drone is deployed to inspect the affected location. It flies over the flooded region and uses its sensors and camera to search for survivors.</a:t>
            </a:r>
            <a:endParaRPr lang="en-US" sz="1800">
              <a:solidFill>
                <a:schemeClr val="tx2"/>
              </a:solidFill>
            </a:endParaRPr>
          </a:p>
          <a:p>
            <a:pPr>
              <a:buNone/>
            </a:pPr>
            <a:endParaRPr lang="en-US" sz="1800">
              <a:solidFill>
                <a:schemeClr val="tx2"/>
              </a:solidFill>
            </a:endParaRPr>
          </a:p>
          <a:p>
            <a:pPr marL="0" indent="0">
              <a:buNone/>
            </a:pPr>
            <a:endParaRPr lang="en-US" sz="1800">
              <a:solidFill>
                <a:schemeClr val="tx2"/>
              </a:solidFill>
            </a:endParaRPr>
          </a:p>
        </p:txBody>
      </p:sp>
      <p:sp>
        <p:nvSpPr>
          <p:cNvPr id="46" name="Rectangle 45"/>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2124987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CCA8FB3-5ACF-D0D2-AC4D-7D43B260EA8C}"/>
              </a:ext>
            </a:extLst>
          </p:cNvPr>
          <p:cNvPicPr>
            <a:picLocks noGrp="1" noChangeAspect="1"/>
          </p:cNvPicPr>
          <p:nvPr>
            <p:ph idx="1"/>
          </p:nvPr>
        </p:nvPicPr>
        <p:blipFill>
          <a:blip r:embed="rId2"/>
          <a:srcRect r="-2" b="53"/>
          <a:stretch>
            <a:fillRect/>
          </a:stretch>
        </p:blipFill>
        <p:spPr>
          <a:xfrm>
            <a:off x="-393" y="10"/>
            <a:ext cx="12192393" cy="6362381"/>
          </a:xfrm>
          <a:prstGeom prst="rect">
            <a:avLst/>
          </a:prstGeom>
        </p:spPr>
      </p:pic>
      <p:sp>
        <p:nvSpPr>
          <p:cNvPr id="5" name="Rectangle 4"/>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360908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6C9FA-3ADC-E979-F523-17798FB7F83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844FCC9-6D91-E304-89FC-E32EDC6669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026C145F-2ADD-1D27-FDB4-57D7D500D628}"/>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997C1B0-E559-962C-6009-AE3DC0189354}"/>
              </a:ext>
            </a:extLst>
          </p:cNvPr>
          <p:cNvSpPr>
            <a:spLocks noGrp="1"/>
          </p:cNvSpPr>
          <p:nvPr>
            <p:ph type="title"/>
          </p:nvPr>
        </p:nvSpPr>
        <p:spPr>
          <a:xfrm>
            <a:off x="838200" y="365125"/>
            <a:ext cx="10515600" cy="1022003"/>
          </a:xfrm>
        </p:spPr>
        <p:txBody>
          <a:bodyPr>
            <a:normAutofit/>
          </a:bodyPr>
          <a:lstStyle/>
          <a:p>
            <a:r>
              <a:rPr lang="en-US" sz="6000">
                <a:solidFill>
                  <a:schemeClr val="bg1"/>
                </a:solidFill>
              </a:rPr>
              <a:t>Expected Outcome</a:t>
            </a:r>
            <a:endParaRPr lang="en-US" sz="6000" dirty="0">
              <a:solidFill>
                <a:schemeClr val="bg1"/>
              </a:solidFill>
            </a:endParaRPr>
          </a:p>
        </p:txBody>
      </p:sp>
      <p:sp>
        <p:nvSpPr>
          <p:cNvPr id="3" name="Content Placeholder 2">
            <a:extLst>
              <a:ext uri="{FF2B5EF4-FFF2-40B4-BE49-F238E27FC236}">
                <a16:creationId xmlns:a16="http://schemas.microsoft.com/office/drawing/2014/main" id="{3DC58705-4FA8-4473-111D-7530F7DCF9A0}"/>
              </a:ext>
            </a:extLst>
          </p:cNvPr>
          <p:cNvSpPr>
            <a:spLocks noGrp="1"/>
          </p:cNvSpPr>
          <p:nvPr>
            <p:ph idx="1"/>
          </p:nvPr>
        </p:nvSpPr>
        <p:spPr>
          <a:xfrm>
            <a:off x="838200" y="1391967"/>
            <a:ext cx="10515600" cy="4605335"/>
          </a:xfrm>
        </p:spPr>
        <p:txBody>
          <a:bodyPr vert="horz" lIns="91440" tIns="45720" rIns="91440" bIns="45720" rtlCol="0" anchor="t">
            <a:normAutofit/>
          </a:bodyPr>
          <a:lstStyle/>
          <a:p>
            <a:pPr>
              <a:buFont typeface="Arial"/>
              <a:buChar char="•"/>
            </a:pPr>
            <a:r>
              <a:rPr lang="en-IN">
                <a:solidFill>
                  <a:schemeClr val="bg1"/>
                </a:solidFill>
                <a:ea typeface="+mn-lt"/>
                <a:cs typeface="+mn-lt"/>
              </a:rPr>
              <a:t>Faster identification of possible survivors in disaster-affected areas.</a:t>
            </a:r>
            <a:endParaRPr lang="en-IN">
              <a:solidFill>
                <a:schemeClr val="bg1"/>
              </a:solidFill>
            </a:endParaRPr>
          </a:p>
          <a:p>
            <a:pPr>
              <a:buFont typeface="Arial"/>
              <a:buChar char="•"/>
            </a:pPr>
            <a:r>
              <a:rPr lang="en-IN">
                <a:solidFill>
                  <a:schemeClr val="bg1"/>
                </a:solidFill>
                <a:ea typeface="+mn-lt"/>
                <a:cs typeface="+mn-lt"/>
              </a:rPr>
              <a:t>Improved estimation and transmission of survivor locations.</a:t>
            </a:r>
            <a:endParaRPr lang="en-IN">
              <a:solidFill>
                <a:schemeClr val="bg1"/>
              </a:solidFill>
            </a:endParaRPr>
          </a:p>
          <a:p>
            <a:pPr>
              <a:buFont typeface="Arial"/>
              <a:buChar char="•"/>
            </a:pPr>
            <a:r>
              <a:rPr lang="en-IN">
                <a:solidFill>
                  <a:schemeClr val="bg1"/>
                </a:solidFill>
                <a:ea typeface="+mn-lt"/>
                <a:cs typeface="+mn-lt"/>
              </a:rPr>
              <a:t>Better access to remote and hazardous locations.</a:t>
            </a:r>
            <a:endParaRPr lang="en-IN">
              <a:solidFill>
                <a:schemeClr val="bg1"/>
              </a:solidFill>
            </a:endParaRPr>
          </a:p>
          <a:p>
            <a:pPr>
              <a:buFont typeface="Arial"/>
              <a:buChar char="•"/>
            </a:pPr>
            <a:r>
              <a:rPr lang="en-IN">
                <a:solidFill>
                  <a:schemeClr val="bg1"/>
                </a:solidFill>
                <a:ea typeface="+mn-lt"/>
                <a:cs typeface="+mn-lt"/>
              </a:rPr>
              <a:t>Reduced exposure of rescue personnel to dangerous environments.</a:t>
            </a:r>
            <a:endParaRPr lang="en-IN">
              <a:solidFill>
                <a:schemeClr val="bg1"/>
              </a:solidFill>
            </a:endParaRPr>
          </a:p>
          <a:p>
            <a:pPr>
              <a:buFont typeface="Arial"/>
              <a:buChar char="•"/>
            </a:pPr>
            <a:r>
              <a:rPr lang="en-IN">
                <a:solidFill>
                  <a:schemeClr val="bg1"/>
                </a:solidFill>
                <a:ea typeface="+mn-lt"/>
                <a:cs typeface="+mn-lt"/>
              </a:rPr>
              <a:t>Improved situational awareness and rescue coordination.</a:t>
            </a:r>
            <a:endParaRPr lang="en-IN">
              <a:solidFill>
                <a:schemeClr val="bg1"/>
              </a:solidFill>
            </a:endParaRPr>
          </a:p>
          <a:p>
            <a:pPr>
              <a:buFont typeface="Arial"/>
              <a:buChar char="•"/>
            </a:pPr>
            <a:r>
              <a:rPr lang="en-IN">
                <a:solidFill>
                  <a:schemeClr val="bg1"/>
                </a:solidFill>
                <a:ea typeface="+mn-lt"/>
                <a:cs typeface="+mn-lt"/>
              </a:rPr>
              <a:t>Potential application across floods, earthquakes, landslides, and forest fires.</a:t>
            </a:r>
            <a:endParaRPr lang="en-IN">
              <a:solidFill>
                <a:schemeClr val="bg1"/>
              </a:solidFill>
            </a:endParaRPr>
          </a:p>
          <a:p>
            <a:pPr>
              <a:buFont typeface="Arial"/>
              <a:buChar char="•"/>
            </a:pPr>
            <a:endParaRPr lang="en-IN"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2586178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8E8D2-5C38-49F8-CB2F-0A66B59500F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1F756CD-E827-D1EF-7F1E-51DBB39639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90D63D0F-A7DF-21FA-D712-86F3DC664ADB}"/>
              </a:ext>
            </a:extLst>
          </p:cNvPr>
          <p:cNvSpPr/>
          <p:nvPr/>
        </p:nvSpPr>
        <p:spPr>
          <a:xfrm>
            <a:off x="-1622" y="-6195"/>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7F17010-F09D-B225-3624-33D264A76966}"/>
              </a:ext>
            </a:extLst>
          </p:cNvPr>
          <p:cNvSpPr>
            <a:spLocks noGrp="1"/>
          </p:cNvSpPr>
          <p:nvPr>
            <p:ph type="title"/>
          </p:nvPr>
        </p:nvSpPr>
        <p:spPr>
          <a:xfrm>
            <a:off x="838200" y="365125"/>
            <a:ext cx="10515600" cy="1022003"/>
          </a:xfrm>
        </p:spPr>
        <p:txBody>
          <a:bodyPr>
            <a:normAutofit/>
          </a:bodyPr>
          <a:lstStyle/>
          <a:p>
            <a:r>
              <a:rPr lang="en-US" sz="6000">
                <a:solidFill>
                  <a:schemeClr val="bg1"/>
                </a:solidFill>
              </a:rPr>
              <a:t>Conclusion</a:t>
            </a:r>
            <a:endParaRPr lang="en-US" sz="6000" dirty="0">
              <a:solidFill>
                <a:schemeClr val="bg1"/>
              </a:solidFill>
            </a:endParaRPr>
          </a:p>
        </p:txBody>
      </p:sp>
      <p:sp>
        <p:nvSpPr>
          <p:cNvPr id="3" name="Content Placeholder 2">
            <a:extLst>
              <a:ext uri="{FF2B5EF4-FFF2-40B4-BE49-F238E27FC236}">
                <a16:creationId xmlns:a16="http://schemas.microsoft.com/office/drawing/2014/main" id="{F3645933-5BC2-01E9-8E75-C648D9EE6EBA}"/>
              </a:ext>
            </a:extLst>
          </p:cNvPr>
          <p:cNvSpPr>
            <a:spLocks noGrp="1"/>
          </p:cNvSpPr>
          <p:nvPr>
            <p:ph idx="1"/>
          </p:nvPr>
        </p:nvSpPr>
        <p:spPr>
          <a:xfrm>
            <a:off x="838200" y="1391967"/>
            <a:ext cx="10515600" cy="4605335"/>
          </a:xfrm>
        </p:spPr>
        <p:txBody>
          <a:bodyPr vert="horz" lIns="91440" tIns="45720" rIns="91440" bIns="45720" rtlCol="0" anchor="t">
            <a:normAutofit/>
          </a:bodyPr>
          <a:lstStyle/>
          <a:p>
            <a:pPr>
              <a:buFont typeface="Arial"/>
              <a:buChar char="•"/>
            </a:pPr>
            <a:r>
              <a:rPr lang="en-IN">
                <a:solidFill>
                  <a:schemeClr val="bg1"/>
                </a:solidFill>
                <a:ea typeface="+mn-lt"/>
                <a:cs typeface="+mn-lt"/>
              </a:rPr>
              <a:t>The Disaster Response Drone for Remote Areas combines thermal imaging, GPS, AI-assisted detection, and real-time communication to support search-and-rescue operations. By providing timely information from inaccessible locations, the proposed system can help rescue teams plan their operations more effectively. Further prototype testing, performance validation, and cost optimization are necessary before operational deployment.</a:t>
            </a:r>
            <a:endParaRPr lang="en-IN" dirty="0">
              <a:solidFill>
                <a:schemeClr val="bg1"/>
              </a:solidFill>
              <a:latin typeface="Aptos"/>
            </a:endParaRPr>
          </a:p>
          <a:p>
            <a:pPr>
              <a:buFont typeface="Arial"/>
              <a:buChar char="•"/>
            </a:pPr>
            <a:endParaRPr lang="en-IN" dirty="0">
              <a:solidFill>
                <a:schemeClr val="bg1"/>
              </a:solidFill>
              <a:latin typeface="Aptos"/>
            </a:endParaRP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20875593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416C9-1140-50CF-3C55-42C75F13046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269C3E9-BB27-7FC0-B10B-49BB322CA0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79F63396-AE59-28F0-55EA-4F8C2AA560D3}"/>
              </a:ext>
            </a:extLst>
          </p:cNvPr>
          <p:cNvSpPr/>
          <p:nvPr/>
        </p:nvSpPr>
        <p:spPr>
          <a:xfrm>
            <a:off x="-1622" y="0"/>
            <a:ext cx="12192000" cy="6858000"/>
          </a:xfrm>
          <a:prstGeom prst="rect">
            <a:avLst/>
          </a:prstGeom>
          <a:gradFill flip="none" rotWithShape="1">
            <a:gsLst>
              <a:gs pos="0">
                <a:schemeClr val="tx1">
                  <a:lumMod val="85000"/>
                  <a:lumOff val="15000"/>
                  <a:alpha val="75000"/>
                </a:schemeClr>
              </a:gs>
              <a:gs pos="46000">
                <a:schemeClr val="accent2">
                  <a:lumMod val="47000"/>
                  <a:alpha val="50000"/>
                </a:schemeClr>
              </a:gs>
              <a:gs pos="100000">
                <a:schemeClr val="tx1">
                  <a:lumMod val="95000"/>
                  <a:lumOff val="5000"/>
                  <a:alpha val="75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74E9125-1297-0FC6-7DE3-8AEB988FE0E2}"/>
              </a:ext>
            </a:extLst>
          </p:cNvPr>
          <p:cNvSpPr>
            <a:spLocks noGrp="1"/>
          </p:cNvSpPr>
          <p:nvPr>
            <p:ph type="title"/>
          </p:nvPr>
        </p:nvSpPr>
        <p:spPr>
          <a:xfrm>
            <a:off x="3712736" y="1889125"/>
            <a:ext cx="4754138" cy="2911515"/>
          </a:xfrm>
        </p:spPr>
        <p:txBody>
          <a:bodyPr>
            <a:normAutofit/>
          </a:bodyPr>
          <a:lstStyle/>
          <a:p>
            <a:r>
              <a:rPr lang="en-US" sz="6000" b="1" dirty="0">
                <a:solidFill>
                  <a:schemeClr val="bg1"/>
                </a:solidFill>
                <a:latin typeface="Aptos"/>
              </a:rPr>
              <a:t>Thank You</a:t>
            </a:r>
          </a:p>
        </p:txBody>
      </p:sp>
      <p:sp>
        <p:nvSpPr>
          <p:cNvPr id="8" name="Rectangle 7"/>
          <p:cNvSpPr/>
          <p:nvPr/>
        </p:nvSpPr>
        <p:spPr>
          <a:xfrm>
            <a:off x="0" y="6355080"/>
            <a:ext cx="12192000" cy="502920"/>
          </a:xfrm>
          <a:prstGeom prst="rect">
            <a:avLst/>
          </a:prstGeom>
          <a:solidFill>
            <a:srgbClr val="D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391656"/>
            <a:ext cx="11277600" cy="429768"/>
          </a:xfrm>
          <a:prstGeom prst="rect">
            <a:avLst/>
          </a:prstGeom>
          <a:noFill/>
        </p:spPr>
        <p:txBody>
          <a:bodyPr wrap="none" lIns="0" tIns="0" rIns="0" bIns="0" anchor="ctr">
            <a:spAutoFit/>
          </a:bodyPr>
          <a:lstStyle/>
          <a:p>
            <a:pPr algn="l">
              <a:spcBef>
                <a:spcPts val="0"/>
              </a:spcBef>
              <a:spcAft>
                <a:spcPts val="0"/>
              </a:spcAft>
            </a:pPr>
            <a:r>
              <a:rPr sz="1700" b="1">
                <a:solidFill>
                  <a:srgbClr val="FFFFFF"/>
                </a:solidFill>
                <a:latin typeface="Arial"/>
              </a:rPr>
              <a:t>DTIE   |   Department of Multi Disciplinary Innovation &amp; Entrepreneurship</a:t>
            </a:r>
          </a:p>
        </p:txBody>
      </p:sp>
    </p:spTree>
    <p:extLst>
      <p:ext uri="{BB962C8B-B14F-4D97-AF65-F5344CB8AC3E}">
        <p14:creationId xmlns:p14="http://schemas.microsoft.com/office/powerpoint/2010/main" val="2538213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Vision and Misson</vt:lpstr>
      <vt:lpstr>Problem faced during disasters</vt:lpstr>
      <vt:lpstr>Empathy: Survivors</vt:lpstr>
      <vt:lpstr>Empathy: Rescue Teams</vt:lpstr>
      <vt:lpstr>Defining the Problem Statement</vt:lpstr>
      <vt:lpstr>Research and Background Study</vt:lpstr>
      <vt:lpstr>Market and Industrial Study</vt:lpstr>
      <vt:lpstr>Target Uses and Costumers</vt:lpstr>
      <vt:lpstr>Competitors and Benchmarks</vt:lpstr>
      <vt:lpstr>Benchmark Parameters</vt:lpstr>
      <vt:lpstr>Proposed Competitive Advantage</vt:lpstr>
      <vt:lpstr>Idea Generation</vt:lpstr>
      <vt:lpstr>Multivoting</vt:lpstr>
      <vt:lpstr>Proposed Drone Concept, Idea,Prototype,Solution</vt:lpstr>
      <vt:lpstr>System Architecture</vt:lpstr>
      <vt:lpstr>Risk and Gaps</vt:lpstr>
      <vt:lpstr>Lean Canvas Model</vt:lpstr>
      <vt:lpstr>Rough Prototype - Working</vt:lpstr>
      <vt:lpstr>Rough Prototype</vt:lpstr>
      <vt:lpstr>Capital and Finanace</vt:lpstr>
      <vt:lpstr>Demonstration  Scenario</vt:lpstr>
      <vt:lpstr>PowerPoint Presentation</vt:lpstr>
      <vt:lpstr>Expected Outcome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505</cp:revision>
  <dcterms:created xsi:type="dcterms:W3CDTF">2026-09-27T07:38:19Z</dcterms:created>
  <dcterms:modified xsi:type="dcterms:W3CDTF">2026-10-11T16:48:43Z</dcterms:modified>
</cp:coreProperties>
</file>